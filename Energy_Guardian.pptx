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71" r:id="rId3"/>
    <p:sldId id="273" r:id="rId4"/>
    <p:sldId id="257" r:id="rId5"/>
    <p:sldId id="258" r:id="rId6"/>
    <p:sldId id="272" r:id="rId7"/>
    <p:sldId id="259" r:id="rId8"/>
    <p:sldId id="260" r:id="rId9"/>
    <p:sldId id="261" r:id="rId10"/>
    <p:sldId id="274" r:id="rId11"/>
    <p:sldId id="262" r:id="rId12"/>
    <p:sldId id="263" r:id="rId13"/>
    <p:sldId id="264" r:id="rId14"/>
    <p:sldId id="265" r:id="rId15"/>
    <p:sldId id="266" r:id="rId16"/>
    <p:sldId id="270" r:id="rId1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3F0F"/>
    <a:srgbClr val="E04412"/>
    <a:srgbClr val="9CA3AF"/>
    <a:srgbClr val="111827"/>
    <a:srgbClr val="6AD893"/>
    <a:srgbClr val="FDD56C"/>
    <a:srgbClr val="FBA163"/>
    <a:srgbClr val="6AE2F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6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13A7B1B3-01F3-E8F4-B083-50116FDB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>
            <a:extLst>
              <a:ext uri="{FF2B5EF4-FFF2-40B4-BE49-F238E27FC236}">
                <a16:creationId xmlns:a16="http://schemas.microsoft.com/office/drawing/2014/main" id="{70A2B244-F73B-4FF2-00DF-69A3DE045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>
            <a:extLst>
              <a:ext uri="{FF2B5EF4-FFF2-40B4-BE49-F238E27FC236}">
                <a16:creationId xmlns:a16="http://schemas.microsoft.com/office/drawing/2014/main" id="{826D68F5-E6C3-70CE-056E-4B20E1733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294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D22692D-1BAB-C5E4-2491-AAE4B17D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>
            <a:extLst>
              <a:ext uri="{FF2B5EF4-FFF2-40B4-BE49-F238E27FC236}">
                <a16:creationId xmlns:a16="http://schemas.microsoft.com/office/drawing/2014/main" id="{52C1A417-B5A7-537E-944D-D3E9E59BD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>
            <a:extLst>
              <a:ext uri="{FF2B5EF4-FFF2-40B4-BE49-F238E27FC236}">
                <a16:creationId xmlns:a16="http://schemas.microsoft.com/office/drawing/2014/main" id="{5EBA37D0-CEF3-70EB-8D5B-3204DA327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0267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9E5A0B36-6860-8EA7-5F3D-95DE0E57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>
            <a:extLst>
              <a:ext uri="{FF2B5EF4-FFF2-40B4-BE49-F238E27FC236}">
                <a16:creationId xmlns:a16="http://schemas.microsoft.com/office/drawing/2014/main" id="{C03669A1-6631-36EF-BBEB-59E13C2F7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>
            <a:extLst>
              <a:ext uri="{FF2B5EF4-FFF2-40B4-BE49-F238E27FC236}">
                <a16:creationId xmlns:a16="http://schemas.microsoft.com/office/drawing/2014/main" id="{5E65C8D4-FFA0-9A1A-661A-CD9BC557B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571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09209D5-F22F-C613-B9AC-F75B3B72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>
            <a:extLst>
              <a:ext uri="{FF2B5EF4-FFF2-40B4-BE49-F238E27FC236}">
                <a16:creationId xmlns:a16="http://schemas.microsoft.com/office/drawing/2014/main" id="{DC0C7456-314D-C898-A7D7-7C2D40F35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>
            <a:extLst>
              <a:ext uri="{FF2B5EF4-FFF2-40B4-BE49-F238E27FC236}">
                <a16:creationId xmlns:a16="http://schemas.microsoft.com/office/drawing/2014/main" id="{FA6A3D2D-7F76-8330-4FE8-FB4FF90E1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26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1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-DBfs5aHK_8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I-Parth-Aggarwal-I/AI_Campus_Energy_Guardian" TargetMode="External"/><Relationship Id="rId11" Type="http://schemas.openxmlformats.org/officeDocument/2006/relationships/image" Target="../media/image40.svg"/><Relationship Id="rId5" Type="http://schemas.openxmlformats.org/officeDocument/2006/relationships/image" Target="../media/image37.png"/><Relationship Id="rId10" Type="http://schemas.openxmlformats.org/officeDocument/2006/relationships/image" Target="../media/image39.png"/><Relationship Id="rId4" Type="http://schemas.openxmlformats.org/officeDocument/2006/relationships/image" Target="../media/image1.png"/><Relationship Id="rId9" Type="http://schemas.openxmlformats.org/officeDocument/2006/relationships/hyperlink" Target="https://i-parth-aggarwal-i.github.io/AI_Campus_Energy_Guardian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093862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7805" y="3490779"/>
            <a:ext cx="7940060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– Pixel Pioneers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– Parth Aggarwal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members – Aryan Bansal , Kundan Sahil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r>
              <a:rPr lang="en-US" altLang="en-GB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Educational campuses experience significant energy inefficiencies due to the absence of real-time monitoring, predictive insights, and cost-effective optimization tools.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E200C3AF-1DD6-BD33-54D1-AD01CC5F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title="AMD.PS.S22.png">
            <a:extLst>
              <a:ext uri="{FF2B5EF4-FFF2-40B4-BE49-F238E27FC236}">
                <a16:creationId xmlns:a16="http://schemas.microsoft.com/office/drawing/2014/main" id="{B427B3D5-7DDF-6E71-BF61-4667E9B795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>
            <a:extLst>
              <a:ext uri="{FF2B5EF4-FFF2-40B4-BE49-F238E27FC236}">
                <a16:creationId xmlns:a16="http://schemas.microsoft.com/office/drawing/2014/main" id="{33E298A0-36C0-A4E7-C3A8-1DA6B6E785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61F18C-12D7-F1ED-6C40-6B8FEB3C47B1}"/>
              </a:ext>
            </a:extLst>
          </p:cNvPr>
          <p:cNvSpPr/>
          <p:nvPr/>
        </p:nvSpPr>
        <p:spPr>
          <a:xfrm>
            <a:off x="0" y="561524"/>
            <a:ext cx="9144000" cy="449430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6CC9DC29-E37D-FCAF-005A-C86ED9735405}"/>
              </a:ext>
            </a:extLst>
          </p:cNvPr>
          <p:cNvSpPr/>
          <p:nvPr/>
        </p:nvSpPr>
        <p:spPr>
          <a:xfrm>
            <a:off x="5943600" y="561524"/>
            <a:ext cx="3200400" cy="4494301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94DA0542-C895-8CC2-C71E-1B4AA33F181B}"/>
              </a:ext>
            </a:extLst>
          </p:cNvPr>
          <p:cNvSpPr/>
          <p:nvPr/>
        </p:nvSpPr>
        <p:spPr>
          <a:xfrm flipH="1">
            <a:off x="5884333" y="561524"/>
            <a:ext cx="59267" cy="4581975"/>
          </a:xfrm>
          <a:prstGeom prst="rect">
            <a:avLst/>
          </a:prstGeom>
          <a:solidFill>
            <a:srgbClr val="E04412"/>
          </a:solidFill>
          <a:ln w="12700">
            <a:noFill/>
            <a:prstDash val="solid"/>
          </a:ln>
        </p:spPr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9D2C3700-74BC-66F4-F2FB-66C304A98D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6126480" y="1110164"/>
            <a:ext cx="2377440" cy="237744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F682D098-4FE6-C1C4-485D-83DE292F1E3D}"/>
              </a:ext>
            </a:extLst>
          </p:cNvPr>
          <p:cNvSpPr/>
          <p:nvPr/>
        </p:nvSpPr>
        <p:spPr>
          <a:xfrm>
            <a:off x="457200" y="101872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F97316"/>
                </a:solidFill>
              </a:rPr>
              <a:t>AMD SLINGSHOT HACKATHON</a:t>
            </a:r>
            <a:endParaRPr lang="en-US" sz="10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2D44D26-EBA4-A4F3-8F46-F59AACAEF7DC}"/>
              </a:ext>
            </a:extLst>
          </p:cNvPr>
          <p:cNvSpPr/>
          <p:nvPr/>
        </p:nvSpPr>
        <p:spPr>
          <a:xfrm>
            <a:off x="457200" y="1567364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9FAFB"/>
                </a:solidFill>
              </a:rPr>
              <a:t>ENERGY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dirty="0">
                <a:solidFill>
                  <a:srgbClr val="F97316"/>
                </a:solidFill>
              </a:rPr>
              <a:t>GUARDIAN</a:t>
            </a:r>
            <a:endParaRPr lang="en-US" sz="6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F47E774-0B29-6FFC-99F6-EA7E8218C339}"/>
              </a:ext>
            </a:extLst>
          </p:cNvPr>
          <p:cNvSpPr/>
          <p:nvPr/>
        </p:nvSpPr>
        <p:spPr>
          <a:xfrm>
            <a:off x="457200" y="39905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CA3AF"/>
                </a:solidFill>
              </a:rPr>
              <a:t>AI-Powered Campus Energy Monitoring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771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1907573-9454-A61A-6F44-DC03F699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AMD.PS.S22.png">
            <a:extLst>
              <a:ext uri="{FF2B5EF4-FFF2-40B4-BE49-F238E27FC236}">
                <a16:creationId xmlns:a16="http://schemas.microsoft.com/office/drawing/2014/main" id="{15EFE04B-EC1F-2E13-9F51-C6497D3CE5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>
            <a:extLst>
              <a:ext uri="{FF2B5EF4-FFF2-40B4-BE49-F238E27FC236}">
                <a16:creationId xmlns:a16="http://schemas.microsoft.com/office/drawing/2014/main" id="{83C42DE4-447A-0FEA-8E30-32D3512C3B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6EDF6B-B22C-876F-108D-716063844055}"/>
              </a:ext>
            </a:extLst>
          </p:cNvPr>
          <p:cNvSpPr/>
          <p:nvPr/>
        </p:nvSpPr>
        <p:spPr>
          <a:xfrm>
            <a:off x="457200" y="701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tx1"/>
                </a:solidFill>
              </a:rPr>
              <a:t>THE PROBLEM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57F546-F95A-DB4B-ADC0-22D7A9DB4A1B}"/>
              </a:ext>
            </a:extLst>
          </p:cNvPr>
          <p:cNvSpPr/>
          <p:nvPr/>
        </p:nvSpPr>
        <p:spPr>
          <a:xfrm>
            <a:off x="457200" y="1231392"/>
            <a:ext cx="9144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478449-9EC1-2725-9C17-1EA6F6FFBFA3}"/>
              </a:ext>
            </a:extLst>
          </p:cNvPr>
          <p:cNvSpPr/>
          <p:nvPr/>
        </p:nvSpPr>
        <p:spPr>
          <a:xfrm>
            <a:off x="457200" y="1485900"/>
            <a:ext cx="2560320" cy="3108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FEE8150C-3A33-5EB5-5DCE-B63CFC8F6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1862213"/>
            <a:ext cx="640080" cy="64008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DCD2428-D749-7039-A4BA-1A96E0C945F6}"/>
              </a:ext>
            </a:extLst>
          </p:cNvPr>
          <p:cNvSpPr/>
          <p:nvPr/>
        </p:nvSpPr>
        <p:spPr>
          <a:xfrm>
            <a:off x="457200" y="2593733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97316"/>
                </a:solidFill>
              </a:rPr>
              <a:t>40%</a:t>
            </a:r>
            <a:endParaRPr lang="en-US" sz="5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E52A155-40F4-C8CE-B422-7B8120417C1A}"/>
              </a:ext>
            </a:extLst>
          </p:cNvPr>
          <p:cNvSpPr/>
          <p:nvPr/>
        </p:nvSpPr>
        <p:spPr>
          <a:xfrm>
            <a:off x="457200" y="3508133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of global energy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consumed by buildings</a:t>
            </a:r>
            <a:endParaRPr lang="en-US" sz="13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5F39278-ED36-5189-20EB-6F30281F82FE}"/>
              </a:ext>
            </a:extLst>
          </p:cNvPr>
          <p:cNvSpPr/>
          <p:nvPr/>
        </p:nvSpPr>
        <p:spPr>
          <a:xfrm>
            <a:off x="3246120" y="1485900"/>
            <a:ext cx="2560320" cy="310896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01871ADE-B76A-12CC-4955-D6AE1D70AE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1862213"/>
            <a:ext cx="640080" cy="64008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7C24A9EC-5FB1-C612-B3C6-EBCA93DFD125}"/>
              </a:ext>
            </a:extLst>
          </p:cNvPr>
          <p:cNvSpPr/>
          <p:nvPr/>
        </p:nvSpPr>
        <p:spPr>
          <a:xfrm>
            <a:off x="3246120" y="2593733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F4444"/>
                </a:solidFill>
              </a:rPr>
              <a:t>30%</a:t>
            </a:r>
            <a:endParaRPr lang="en-US" sz="5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86F5F94-D251-E8E4-565F-6FD59500EC3D}"/>
              </a:ext>
            </a:extLst>
          </p:cNvPr>
          <p:cNvSpPr/>
          <p:nvPr/>
        </p:nvSpPr>
        <p:spPr>
          <a:xfrm>
            <a:off x="3246120" y="3508133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wasted due 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poor monitoring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9607D75-DBBC-6AA3-1075-8E3A3D9BCE2D}"/>
              </a:ext>
            </a:extLst>
          </p:cNvPr>
          <p:cNvSpPr/>
          <p:nvPr/>
        </p:nvSpPr>
        <p:spPr>
          <a:xfrm>
            <a:off x="6035040" y="1485900"/>
            <a:ext cx="2560320" cy="3108960"/>
          </a:xfrm>
          <a:prstGeom prst="rect">
            <a:avLst/>
          </a:prstGeom>
          <a:solidFill>
            <a:srgbClr val="111827"/>
          </a:solidFill>
          <a:ln w="1905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D8EDF2CA-7198-9256-0DCF-F64C84D31C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1862213"/>
            <a:ext cx="640080" cy="64008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3F5FDFCC-1486-5A44-9BBF-F7FFFC784368}"/>
              </a:ext>
            </a:extLst>
          </p:cNvPr>
          <p:cNvSpPr/>
          <p:nvPr/>
        </p:nvSpPr>
        <p:spPr>
          <a:xfrm>
            <a:off x="6035040" y="2593733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2D3EE"/>
                </a:solidFill>
              </a:rPr>
              <a:t>0</a:t>
            </a:r>
            <a:endParaRPr lang="en-US" sz="5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64B8B93-8DF0-CCA3-839D-EF9248025F23}"/>
              </a:ext>
            </a:extLst>
          </p:cNvPr>
          <p:cNvSpPr/>
          <p:nvPr/>
        </p:nvSpPr>
        <p:spPr>
          <a:xfrm>
            <a:off x="6035040" y="3508133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real-time visibility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in most campuses</a:t>
            </a:r>
            <a:endParaRPr lang="en-US" sz="13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9BD2C92-E565-21CD-2802-D89D8B6F6297}"/>
              </a:ext>
            </a:extLst>
          </p:cNvPr>
          <p:cNvSpPr/>
          <p:nvPr/>
        </p:nvSpPr>
        <p:spPr>
          <a:xfrm>
            <a:off x="457200" y="46710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B923C"/>
                </a:solidFill>
              </a:rPr>
              <a:t>Campuses are flying blind. Energy bills spike. Nobody knows why.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408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1756D925-8FBE-F563-E3B8-AF7C466EB1B5}"/>
              </a:ext>
            </a:extLst>
          </p:cNvPr>
          <p:cNvSpPr/>
          <p:nvPr/>
        </p:nvSpPr>
        <p:spPr>
          <a:xfrm>
            <a:off x="457200" y="71242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tx1"/>
                </a:solidFill>
              </a:rPr>
              <a:t>THE IDEA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F9C204E3-DF87-44A2-BAAC-2EB16CD1DB97}"/>
              </a:ext>
            </a:extLst>
          </p:cNvPr>
          <p:cNvSpPr/>
          <p:nvPr/>
        </p:nvSpPr>
        <p:spPr>
          <a:xfrm>
            <a:off x="457200" y="1242777"/>
            <a:ext cx="7315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42E659D9-5CF0-EFF6-B227-AC9F5E38EB89}"/>
              </a:ext>
            </a:extLst>
          </p:cNvPr>
          <p:cNvSpPr/>
          <p:nvPr/>
        </p:nvSpPr>
        <p:spPr>
          <a:xfrm>
            <a:off x="457200" y="1489665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One dashboard.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watt. </a:t>
            </a:r>
          </a:p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zone.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 real-time.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DEBFEBEC-C8A4-1022-88E9-BAE1F9E05926}"/>
              </a:ext>
            </a:extLst>
          </p:cNvPr>
          <p:cNvSpPr/>
          <p:nvPr/>
        </p:nvSpPr>
        <p:spPr>
          <a:xfrm>
            <a:off x="4846320" y="1535385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627478AA-7694-9B13-2AD0-4BE76D3FE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581105"/>
            <a:ext cx="384048" cy="384048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00532318-BE9B-F075-BD85-31F517CC0B6B}"/>
              </a:ext>
            </a:extLst>
          </p:cNvPr>
          <p:cNvSpPr/>
          <p:nvPr/>
        </p:nvSpPr>
        <p:spPr>
          <a:xfrm>
            <a:off x="5486400" y="1590249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Live demand curves &amp; forecasting</a:t>
            </a: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450246AF-D026-8339-4DA4-080ECE307AD7}"/>
              </a:ext>
            </a:extLst>
          </p:cNvPr>
          <p:cNvSpPr/>
          <p:nvPr/>
        </p:nvSpPr>
        <p:spPr>
          <a:xfrm>
            <a:off x="4846320" y="2340057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C6878C28-4D56-37DD-50F2-CF6E48FF0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385777"/>
            <a:ext cx="384048" cy="384048"/>
          </a:xfrm>
          <a:prstGeom prst="rect">
            <a:avLst/>
          </a:prstGeom>
        </p:spPr>
      </p:pic>
      <p:sp>
        <p:nvSpPr>
          <p:cNvPr id="28" name="Text 6">
            <a:extLst>
              <a:ext uri="{FF2B5EF4-FFF2-40B4-BE49-F238E27FC236}">
                <a16:creationId xmlns:a16="http://schemas.microsoft.com/office/drawing/2014/main" id="{7864C7D1-12FC-B154-C46B-2D6C91F3D5F1}"/>
              </a:ext>
            </a:extLst>
          </p:cNvPr>
          <p:cNvSpPr/>
          <p:nvPr/>
        </p:nvSpPr>
        <p:spPr>
          <a:xfrm>
            <a:off x="5486400" y="2394921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Solar / Grid / Battery mix tracking</a:t>
            </a: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055F3F24-3C45-0005-AC30-FDCF72BF242F}"/>
              </a:ext>
            </a:extLst>
          </p:cNvPr>
          <p:cNvSpPr/>
          <p:nvPr/>
        </p:nvSpPr>
        <p:spPr>
          <a:xfrm>
            <a:off x="4846320" y="3144729"/>
            <a:ext cx="502920" cy="5029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6A1C73DC-0FC0-47B9-E46B-3B2BDECD77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3190449"/>
            <a:ext cx="384048" cy="384048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FE00D6B4-FEE7-C03F-D901-2B8BEC03C126}"/>
              </a:ext>
            </a:extLst>
          </p:cNvPr>
          <p:cNvSpPr/>
          <p:nvPr/>
        </p:nvSpPr>
        <p:spPr>
          <a:xfrm>
            <a:off x="5486400" y="3199593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AI chatbot for instant answers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A6331898-A35F-B1F4-087A-0D0BA92BB79A}"/>
              </a:ext>
            </a:extLst>
          </p:cNvPr>
          <p:cNvSpPr/>
          <p:nvPr/>
        </p:nvSpPr>
        <p:spPr>
          <a:xfrm>
            <a:off x="4846320" y="3949401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3" name="Image 3" descr="preencoded.png">
            <a:extLst>
              <a:ext uri="{FF2B5EF4-FFF2-40B4-BE49-F238E27FC236}">
                <a16:creationId xmlns:a16="http://schemas.microsoft.com/office/drawing/2014/main" id="{32713528-214B-556A-5BA4-BC09FCEEC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995121"/>
            <a:ext cx="384048" cy="384048"/>
          </a:xfrm>
          <a:prstGeom prst="rect">
            <a:avLst/>
          </a:prstGeom>
        </p:spPr>
      </p:pic>
      <p:sp>
        <p:nvSpPr>
          <p:cNvPr id="34" name="Text 10">
            <a:extLst>
              <a:ext uri="{FF2B5EF4-FFF2-40B4-BE49-F238E27FC236}">
                <a16:creationId xmlns:a16="http://schemas.microsoft.com/office/drawing/2014/main" id="{4726F38E-BDBD-792D-64D0-4136A41C7056}"/>
              </a:ext>
            </a:extLst>
          </p:cNvPr>
          <p:cNvSpPr/>
          <p:nvPr/>
        </p:nvSpPr>
        <p:spPr>
          <a:xfrm>
            <a:off x="5486400" y="4004265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Smart alerts before things go wrong</a:t>
            </a:r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566F23D4-4286-3489-D575-44E684130E19}"/>
              </a:ext>
            </a:extLst>
          </p:cNvPr>
          <p:cNvSpPr/>
          <p:nvPr/>
        </p:nvSpPr>
        <p:spPr>
          <a:xfrm>
            <a:off x="4626864" y="1398225"/>
            <a:ext cx="73152" cy="3745274"/>
          </a:xfrm>
          <a:prstGeom prst="rect">
            <a:avLst/>
          </a:prstGeom>
          <a:solidFill>
            <a:srgbClr val="E04412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Shape 2">
            <a:extLst>
              <a:ext uri="{FF2B5EF4-FFF2-40B4-BE49-F238E27FC236}">
                <a16:creationId xmlns:a16="http://schemas.microsoft.com/office/drawing/2014/main" id="{294595B5-470A-312B-4914-1B330E3464AC}"/>
              </a:ext>
            </a:extLst>
          </p:cNvPr>
          <p:cNvSpPr/>
          <p:nvPr/>
        </p:nvSpPr>
        <p:spPr>
          <a:xfrm>
            <a:off x="306079" y="1454495"/>
            <a:ext cx="4114800" cy="1600200"/>
          </a:xfrm>
          <a:prstGeom prst="rect">
            <a:avLst/>
          </a:prstGeom>
          <a:solidFill>
            <a:srgbClr val="141428"/>
          </a:solidFill>
          <a:ln w="190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0">
            <a:extLst>
              <a:ext uri="{FF2B5EF4-FFF2-40B4-BE49-F238E27FC236}">
                <a16:creationId xmlns:a16="http://schemas.microsoft.com/office/drawing/2014/main" id="{4D9B1800-5F1D-0123-9CB0-DEA73F019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9" y="1728815"/>
            <a:ext cx="502920" cy="502920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0AD03589-B2DC-BC79-95BC-9AFC4D3F21EA}"/>
              </a:ext>
            </a:extLst>
          </p:cNvPr>
          <p:cNvSpPr/>
          <p:nvPr/>
        </p:nvSpPr>
        <p:spPr>
          <a:xfrm>
            <a:off x="1110751" y="1655663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BLIND SPOTS</a:t>
            </a:r>
            <a:endParaRPr lang="en-US" sz="18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27AAC951-B17E-0149-D86A-68750E064C13}"/>
              </a:ext>
            </a:extLst>
          </p:cNvPr>
          <p:cNvSpPr/>
          <p:nvPr/>
        </p:nvSpPr>
        <p:spPr>
          <a:xfrm>
            <a:off x="1110751" y="2048855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zone-level visibility on campuses</a:t>
            </a:r>
            <a:endParaRPr lang="en-US" sz="12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4148407B-28AD-4A9E-ADE9-48A9A14A8698}"/>
              </a:ext>
            </a:extLst>
          </p:cNvPr>
          <p:cNvSpPr/>
          <p:nvPr/>
        </p:nvSpPr>
        <p:spPr>
          <a:xfrm>
            <a:off x="4740919" y="1454495"/>
            <a:ext cx="4114800" cy="1600200"/>
          </a:xfrm>
          <a:prstGeom prst="rect">
            <a:avLst/>
          </a:prstGeom>
          <a:solidFill>
            <a:srgbClr val="141428"/>
          </a:solidFill>
          <a:ln w="1905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1">
            <a:extLst>
              <a:ext uri="{FF2B5EF4-FFF2-40B4-BE49-F238E27FC236}">
                <a16:creationId xmlns:a16="http://schemas.microsoft.com/office/drawing/2014/main" id="{C19930B7-7083-A1F5-671F-81950980E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3799" y="1728815"/>
            <a:ext cx="502920" cy="502920"/>
          </a:xfrm>
          <a:prstGeom prst="rect">
            <a:avLst/>
          </a:prstGeom>
        </p:spPr>
      </p:pic>
      <p:sp>
        <p:nvSpPr>
          <p:cNvPr id="33" name="Text 6">
            <a:extLst>
              <a:ext uri="{FF2B5EF4-FFF2-40B4-BE49-F238E27FC236}">
                <a16:creationId xmlns:a16="http://schemas.microsoft.com/office/drawing/2014/main" id="{099981DF-FB6F-8364-AC8C-0E42A65BAE37}"/>
              </a:ext>
            </a:extLst>
          </p:cNvPr>
          <p:cNvSpPr/>
          <p:nvPr/>
        </p:nvSpPr>
        <p:spPr>
          <a:xfrm>
            <a:off x="5545591" y="1655663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TRAP</a:t>
            </a:r>
            <a:endParaRPr lang="en-US" sz="18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9D3D3866-EA66-8FCE-ADDB-9EEFD76D708D}"/>
              </a:ext>
            </a:extLst>
          </p:cNvPr>
          <p:cNvSpPr/>
          <p:nvPr/>
        </p:nvSpPr>
        <p:spPr>
          <a:xfrm>
            <a:off x="5545591" y="2048855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cloud-dependent &amp; reactive systems</a:t>
            </a:r>
            <a:endParaRPr lang="en-US" sz="12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7423EBF8-C101-BA4A-EBD6-C7E40FED13D3}"/>
              </a:ext>
            </a:extLst>
          </p:cNvPr>
          <p:cNvSpPr/>
          <p:nvPr/>
        </p:nvSpPr>
        <p:spPr>
          <a:xfrm>
            <a:off x="306079" y="3177540"/>
            <a:ext cx="4114800" cy="1600200"/>
          </a:xfrm>
          <a:prstGeom prst="rect">
            <a:avLst/>
          </a:prstGeom>
          <a:solidFill>
            <a:srgbClr val="141428"/>
          </a:solidFill>
          <a:ln w="1905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2">
            <a:extLst>
              <a:ext uri="{FF2B5EF4-FFF2-40B4-BE49-F238E27FC236}">
                <a16:creationId xmlns:a16="http://schemas.microsoft.com/office/drawing/2014/main" id="{24630A3A-6722-AA57-990A-CD5FEBFBAA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59" y="3451860"/>
            <a:ext cx="502920" cy="502920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0DDD9F61-44CC-ED13-69A3-38A0E7B67C65}"/>
              </a:ext>
            </a:extLst>
          </p:cNvPr>
          <p:cNvSpPr/>
          <p:nvPr/>
        </p:nvSpPr>
        <p:spPr>
          <a:xfrm>
            <a:off x="1110751" y="33787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C8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WASTED WATTS</a:t>
            </a:r>
            <a:endParaRPr lang="en-US" sz="18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BC771F4B-19EC-CE1C-4580-D3F13ADD483E}"/>
              </a:ext>
            </a:extLst>
          </p:cNvPr>
          <p:cNvSpPr/>
          <p:nvPr/>
        </p:nvSpPr>
        <p:spPr>
          <a:xfrm>
            <a:off x="1110751" y="37719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on in empty rooms, AC running after hours</a:t>
            </a:r>
            <a:endParaRPr lang="en-US" sz="120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878F68CF-82B8-7B81-14B7-F91AACBD67F4}"/>
              </a:ext>
            </a:extLst>
          </p:cNvPr>
          <p:cNvSpPr/>
          <p:nvPr/>
        </p:nvSpPr>
        <p:spPr>
          <a:xfrm>
            <a:off x="4740919" y="3177540"/>
            <a:ext cx="4114800" cy="1600200"/>
          </a:xfrm>
          <a:prstGeom prst="rect">
            <a:avLst/>
          </a:prstGeom>
          <a:solidFill>
            <a:srgbClr val="141428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3">
            <a:extLst>
              <a:ext uri="{FF2B5EF4-FFF2-40B4-BE49-F238E27FC236}">
                <a16:creationId xmlns:a16="http://schemas.microsoft.com/office/drawing/2014/main" id="{DEAD4EC1-C99B-BA9A-2D7C-1C808118C6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3799" y="3451860"/>
            <a:ext cx="502920" cy="502920"/>
          </a:xfrm>
          <a:prstGeom prst="rect">
            <a:avLst/>
          </a:prstGeom>
        </p:spPr>
      </p:pic>
      <p:sp>
        <p:nvSpPr>
          <p:cNvPr id="41" name="Text 12">
            <a:extLst>
              <a:ext uri="{FF2B5EF4-FFF2-40B4-BE49-F238E27FC236}">
                <a16:creationId xmlns:a16="http://schemas.microsoft.com/office/drawing/2014/main" id="{72EA7DB4-2CE6-AD42-8105-80436CDEE0AF}"/>
              </a:ext>
            </a:extLst>
          </p:cNvPr>
          <p:cNvSpPr/>
          <p:nvPr/>
        </p:nvSpPr>
        <p:spPr>
          <a:xfrm>
            <a:off x="5545591" y="33787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3-IN-1</a:t>
            </a:r>
            <a:endParaRPr lang="en-US" sz="18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E645FA97-458E-1C73-ED70-2E69B66A6C9B}"/>
              </a:ext>
            </a:extLst>
          </p:cNvPr>
          <p:cNvSpPr/>
          <p:nvPr/>
        </p:nvSpPr>
        <p:spPr>
          <a:xfrm>
            <a:off x="5545591" y="37719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affordable live monitoring + 3D + AI solution</a:t>
            </a:r>
            <a:endParaRPr lang="en-US" sz="12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52A39C3B-713B-07EC-2D1C-61A9ED0AEE1E}"/>
              </a:ext>
            </a:extLst>
          </p:cNvPr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 hemorrhage energy — invisible, unchecked, and costly.</a:t>
            </a:r>
            <a:endParaRPr lang="en-US" sz="130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781663EE-66FE-3D3E-41A9-FEC9C8EB4D9A}"/>
              </a:ext>
            </a:extLst>
          </p:cNvPr>
          <p:cNvSpPr/>
          <p:nvPr/>
        </p:nvSpPr>
        <p:spPr>
          <a:xfrm>
            <a:off x="457200" y="65824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spc="300" dirty="0">
                <a:solidFill>
                  <a:schemeClr val="tx1"/>
                </a:solidFill>
              </a:rPr>
              <a:t>OPPURTUNITIE</a:t>
            </a:r>
            <a:r>
              <a:rPr lang="en-US" sz="3600" b="1" kern="0" spc="300" dirty="0">
                <a:solidFill>
                  <a:schemeClr val="tx1"/>
                </a:solidFill>
              </a:rPr>
              <a:t>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E21715F0-FA83-528D-75DA-0D4F560095DC}"/>
              </a:ext>
            </a:extLst>
          </p:cNvPr>
          <p:cNvSpPr/>
          <p:nvPr/>
        </p:nvSpPr>
        <p:spPr>
          <a:xfrm>
            <a:off x="457200" y="1188601"/>
            <a:ext cx="777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38B5D4C2-B64F-B5C7-2FA8-210307D2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title="AMD.PS.S22.png">
            <a:extLst>
              <a:ext uri="{FF2B5EF4-FFF2-40B4-BE49-F238E27FC236}">
                <a16:creationId xmlns:a16="http://schemas.microsoft.com/office/drawing/2014/main" id="{72EC8638-1617-E99A-BA4A-E02C5E0F38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>
            <a:extLst>
              <a:ext uri="{FF2B5EF4-FFF2-40B4-BE49-F238E27FC236}">
                <a16:creationId xmlns:a16="http://schemas.microsoft.com/office/drawing/2014/main" id="{2BC1F0DC-FD7D-A358-0368-EC6326408B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5C5AC47-EC63-3856-5570-349B9FFB5F1D}"/>
              </a:ext>
            </a:extLst>
          </p:cNvPr>
          <p:cNvSpPr/>
          <p:nvPr/>
        </p:nvSpPr>
        <p:spPr>
          <a:xfrm>
            <a:off x="457200" y="118860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 ·  Affordable  ·  </a:t>
            </a:r>
            <a:r>
              <a:rPr lang="en-US" sz="17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E32165-0CD3-B53E-744F-5112559479C5}"/>
              </a:ext>
            </a:extLst>
          </p:cNvPr>
          <p:cNvSpPr/>
          <p:nvPr/>
        </p:nvSpPr>
        <p:spPr>
          <a:xfrm>
            <a:off x="320040" y="1647539"/>
            <a:ext cx="4023360" cy="347472"/>
          </a:xfrm>
          <a:prstGeom prst="rect">
            <a:avLst/>
          </a:prstGeom>
          <a:solidFill>
            <a:srgbClr val="2A0000"/>
          </a:solidFill>
          <a:ln w="12700">
            <a:solidFill>
              <a:srgbClr val="FF3B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262945-F5F4-D008-35FC-6FEBD7BB307E}"/>
              </a:ext>
            </a:extLst>
          </p:cNvPr>
          <p:cNvSpPr/>
          <p:nvPr/>
        </p:nvSpPr>
        <p:spPr>
          <a:xfrm>
            <a:off x="320040" y="1647539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Existing Solutions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85DCF53-C5E6-350C-7FCC-A026F84623CE}"/>
              </a:ext>
            </a:extLst>
          </p:cNvPr>
          <p:cNvSpPr/>
          <p:nvPr/>
        </p:nvSpPr>
        <p:spPr>
          <a:xfrm>
            <a:off x="4572000" y="1647539"/>
            <a:ext cx="4206240" cy="347472"/>
          </a:xfrm>
          <a:prstGeom prst="rect">
            <a:avLst/>
          </a:prstGeom>
          <a:solidFill>
            <a:srgbClr val="002200"/>
          </a:solidFill>
          <a:ln w="12700">
            <a:solidFill>
              <a:srgbClr val="00DD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39BA81-F795-5460-461C-03ED00010750}"/>
              </a:ext>
            </a:extLst>
          </p:cNvPr>
          <p:cNvSpPr/>
          <p:nvPr/>
        </p:nvSpPr>
        <p:spPr>
          <a:xfrm>
            <a:off x="4572000" y="164753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0D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Energy Guardian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2B3B76-3C60-3AF8-A0E3-335D7DE1980E}"/>
              </a:ext>
            </a:extLst>
          </p:cNvPr>
          <p:cNvSpPr/>
          <p:nvPr/>
        </p:nvSpPr>
        <p:spPr>
          <a:xfrm>
            <a:off x="320040" y="1995011"/>
            <a:ext cx="4023360" cy="429768"/>
          </a:xfrm>
          <a:prstGeom prst="rect">
            <a:avLst/>
          </a:prstGeom>
          <a:solidFill>
            <a:srgbClr val="150505"/>
          </a:solidFill>
          <a:ln w="635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CF35B9-B039-1B8D-A7CC-0CBE727E98F0}"/>
              </a:ext>
            </a:extLst>
          </p:cNvPr>
          <p:cNvSpPr/>
          <p:nvPr/>
        </p:nvSpPr>
        <p:spPr>
          <a:xfrm>
            <a:off x="502920" y="1995011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analytics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BA23452-E1C5-074D-4C8A-AC1E3626E143}"/>
              </a:ext>
            </a:extLst>
          </p:cNvPr>
          <p:cNvSpPr/>
          <p:nvPr/>
        </p:nvSpPr>
        <p:spPr>
          <a:xfrm>
            <a:off x="4572000" y="1995011"/>
            <a:ext cx="4206240" cy="429768"/>
          </a:xfrm>
          <a:prstGeom prst="rect">
            <a:avLst/>
          </a:prstGeom>
          <a:solidFill>
            <a:srgbClr val="051505"/>
          </a:solidFill>
          <a:ln w="6350">
            <a:solidFill>
              <a:srgbClr val="20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6631E7-10D1-3D17-02C6-D07F1991D899}"/>
              </a:ext>
            </a:extLst>
          </p:cNvPr>
          <p:cNvSpPr/>
          <p:nvPr/>
        </p:nvSpPr>
        <p:spPr>
          <a:xfrm>
            <a:off x="4709160" y="1995011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9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on-device (AMD AI PC)</a:t>
            </a:r>
            <a:endParaRPr lang="en-US" sz="11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AF7360E-153C-6FDC-6FCC-459E65D5FF03}"/>
              </a:ext>
            </a:extLst>
          </p:cNvPr>
          <p:cNvSpPr/>
          <p:nvPr/>
        </p:nvSpPr>
        <p:spPr>
          <a:xfrm>
            <a:off x="320040" y="2424779"/>
            <a:ext cx="4023360" cy="429768"/>
          </a:xfrm>
          <a:prstGeom prst="rect">
            <a:avLst/>
          </a:prstGeom>
          <a:solidFill>
            <a:srgbClr val="1A0808"/>
          </a:solidFill>
          <a:ln w="635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AE2059D-1E74-287C-1512-C3F0E0CEE0CD}"/>
              </a:ext>
            </a:extLst>
          </p:cNvPr>
          <p:cNvSpPr/>
          <p:nvPr/>
        </p:nvSpPr>
        <p:spPr>
          <a:xfrm>
            <a:off x="502920" y="2424779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reporting only</a:t>
            </a:r>
            <a:endParaRPr lang="en-US" sz="11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D79C96-D0A3-409F-FC82-75534BE21BD9}"/>
              </a:ext>
            </a:extLst>
          </p:cNvPr>
          <p:cNvSpPr/>
          <p:nvPr/>
        </p:nvSpPr>
        <p:spPr>
          <a:xfrm>
            <a:off x="4572000" y="2424779"/>
            <a:ext cx="4206240" cy="429768"/>
          </a:xfrm>
          <a:prstGeom prst="rect">
            <a:avLst/>
          </a:prstGeom>
          <a:solidFill>
            <a:srgbClr val="081A08"/>
          </a:solidFill>
          <a:ln w="6350">
            <a:solidFill>
              <a:srgbClr val="20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49F7397-F658-B225-1BFD-385E448586C2}"/>
              </a:ext>
            </a:extLst>
          </p:cNvPr>
          <p:cNvSpPr/>
          <p:nvPr/>
        </p:nvSpPr>
        <p:spPr>
          <a:xfrm>
            <a:off x="4709160" y="2424779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9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demand forecasting</a:t>
            </a:r>
            <a:endParaRPr lang="en-US" sz="11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5F8857D-1BEB-8DB0-A0CF-F281C279CCF8}"/>
              </a:ext>
            </a:extLst>
          </p:cNvPr>
          <p:cNvSpPr/>
          <p:nvPr/>
        </p:nvSpPr>
        <p:spPr>
          <a:xfrm>
            <a:off x="320040" y="2854547"/>
            <a:ext cx="4023360" cy="429768"/>
          </a:xfrm>
          <a:prstGeom prst="rect">
            <a:avLst/>
          </a:prstGeom>
          <a:solidFill>
            <a:srgbClr val="150505"/>
          </a:solidFill>
          <a:ln w="635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AD194DF-DA62-91C1-EE19-DA6C973E3F28}"/>
              </a:ext>
            </a:extLst>
          </p:cNvPr>
          <p:cNvSpPr/>
          <p:nvPr/>
        </p:nvSpPr>
        <p:spPr>
          <a:xfrm>
            <a:off x="502920" y="2854547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deployment cost</a:t>
            </a:r>
            <a:endParaRPr lang="en-US" sz="11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CB79B03-6461-0F8C-7F9E-6D0CC0A284F7}"/>
              </a:ext>
            </a:extLst>
          </p:cNvPr>
          <p:cNvSpPr/>
          <p:nvPr/>
        </p:nvSpPr>
        <p:spPr>
          <a:xfrm>
            <a:off x="4572000" y="2854547"/>
            <a:ext cx="4206240" cy="429768"/>
          </a:xfrm>
          <a:prstGeom prst="rect">
            <a:avLst/>
          </a:prstGeom>
          <a:solidFill>
            <a:srgbClr val="051505"/>
          </a:solidFill>
          <a:ln w="6350">
            <a:solidFill>
              <a:srgbClr val="20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8B23A7B-64D7-04BA-1EDE-7D240219202B}"/>
              </a:ext>
            </a:extLst>
          </p:cNvPr>
          <p:cNvSpPr/>
          <p:nvPr/>
        </p:nvSpPr>
        <p:spPr>
          <a:xfrm>
            <a:off x="4709160" y="2854547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9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infrastructure</a:t>
            </a:r>
            <a:endParaRPr lang="en-US" sz="11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60D08CA-254F-E20C-ECDB-EB14F982A52B}"/>
              </a:ext>
            </a:extLst>
          </p:cNvPr>
          <p:cNvSpPr/>
          <p:nvPr/>
        </p:nvSpPr>
        <p:spPr>
          <a:xfrm>
            <a:off x="320040" y="3284315"/>
            <a:ext cx="4023360" cy="429768"/>
          </a:xfrm>
          <a:prstGeom prst="rect">
            <a:avLst/>
          </a:prstGeom>
          <a:solidFill>
            <a:srgbClr val="1A0808"/>
          </a:solidFill>
          <a:ln w="635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72A7615-B45B-2FD7-B27C-7C74122B3467}"/>
              </a:ext>
            </a:extLst>
          </p:cNvPr>
          <p:cNvSpPr/>
          <p:nvPr/>
        </p:nvSpPr>
        <p:spPr>
          <a:xfrm>
            <a:off x="502920" y="3284315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dashboards</a:t>
            </a:r>
            <a:endParaRPr lang="en-US" sz="11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875BC02-B0D2-92A2-CA65-614262B9AB9E}"/>
              </a:ext>
            </a:extLst>
          </p:cNvPr>
          <p:cNvSpPr/>
          <p:nvPr/>
        </p:nvSpPr>
        <p:spPr>
          <a:xfrm>
            <a:off x="4572000" y="3284315"/>
            <a:ext cx="4206240" cy="429768"/>
          </a:xfrm>
          <a:prstGeom prst="rect">
            <a:avLst/>
          </a:prstGeom>
          <a:solidFill>
            <a:srgbClr val="081A08"/>
          </a:solidFill>
          <a:ln w="6350">
            <a:solidFill>
              <a:srgbClr val="20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2ABE2D2-25DE-20FE-CD65-2B419C7EC04B}"/>
              </a:ext>
            </a:extLst>
          </p:cNvPr>
          <p:cNvSpPr/>
          <p:nvPr/>
        </p:nvSpPr>
        <p:spPr>
          <a:xfrm>
            <a:off x="4709160" y="3284315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9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WebGL campus map</a:t>
            </a:r>
            <a:endParaRPr lang="en-US" sz="11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0ACD9DC-8E17-525B-2CDE-443A889254C2}"/>
              </a:ext>
            </a:extLst>
          </p:cNvPr>
          <p:cNvSpPr/>
          <p:nvPr/>
        </p:nvSpPr>
        <p:spPr>
          <a:xfrm>
            <a:off x="320040" y="3714083"/>
            <a:ext cx="4023360" cy="429768"/>
          </a:xfrm>
          <a:prstGeom prst="rect">
            <a:avLst/>
          </a:prstGeom>
          <a:solidFill>
            <a:srgbClr val="150505"/>
          </a:solidFill>
          <a:ln w="635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A20B880-E434-3137-E8A5-62405A09112F}"/>
              </a:ext>
            </a:extLst>
          </p:cNvPr>
          <p:cNvSpPr/>
          <p:nvPr/>
        </p:nvSpPr>
        <p:spPr>
          <a:xfrm>
            <a:off x="502920" y="3714083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interface</a:t>
            </a:r>
            <a:endParaRPr lang="en-US" sz="11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4FB909F-3E41-B8B9-DD8E-DD20E0E17C3C}"/>
              </a:ext>
            </a:extLst>
          </p:cNvPr>
          <p:cNvSpPr/>
          <p:nvPr/>
        </p:nvSpPr>
        <p:spPr>
          <a:xfrm>
            <a:off x="4572000" y="3714083"/>
            <a:ext cx="4206240" cy="429768"/>
          </a:xfrm>
          <a:prstGeom prst="rect">
            <a:avLst/>
          </a:prstGeom>
          <a:solidFill>
            <a:srgbClr val="051505"/>
          </a:solidFill>
          <a:ln w="6350">
            <a:solidFill>
              <a:srgbClr val="20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7843492-4D7F-DD63-EA5C-F04E09736664}"/>
              </a:ext>
            </a:extLst>
          </p:cNvPr>
          <p:cNvSpPr/>
          <p:nvPr/>
        </p:nvSpPr>
        <p:spPr>
          <a:xfrm>
            <a:off x="4709160" y="3714083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9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energy chatbot</a:t>
            </a:r>
            <a:endParaRPr lang="en-US" sz="11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30667CE-CE52-2AF4-724C-4D88A7835E71}"/>
              </a:ext>
            </a:extLst>
          </p:cNvPr>
          <p:cNvSpPr/>
          <p:nvPr/>
        </p:nvSpPr>
        <p:spPr>
          <a:xfrm>
            <a:off x="320040" y="4143851"/>
            <a:ext cx="4023360" cy="429768"/>
          </a:xfrm>
          <a:prstGeom prst="rect">
            <a:avLst/>
          </a:prstGeom>
          <a:solidFill>
            <a:srgbClr val="1A0808"/>
          </a:solidFill>
          <a:ln w="635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8C9E222-A31F-2216-F16D-8F15E4A70D19}"/>
              </a:ext>
            </a:extLst>
          </p:cNvPr>
          <p:cNvSpPr/>
          <p:nvPr/>
        </p:nvSpPr>
        <p:spPr>
          <a:xfrm>
            <a:off x="502920" y="4143851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CC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transparency</a:t>
            </a:r>
            <a:endParaRPr lang="en-US" sz="11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60A23BD-D66A-4376-503F-432D40FF195D}"/>
              </a:ext>
            </a:extLst>
          </p:cNvPr>
          <p:cNvSpPr/>
          <p:nvPr/>
        </p:nvSpPr>
        <p:spPr>
          <a:xfrm>
            <a:off x="4572000" y="4143851"/>
            <a:ext cx="4206240" cy="429768"/>
          </a:xfrm>
          <a:prstGeom prst="rect">
            <a:avLst/>
          </a:prstGeom>
          <a:solidFill>
            <a:srgbClr val="081A08"/>
          </a:solidFill>
          <a:ln w="6350">
            <a:solidFill>
              <a:srgbClr val="203A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12599D2-2115-834D-58FF-7A150DD23E38}"/>
              </a:ext>
            </a:extLst>
          </p:cNvPr>
          <p:cNvSpPr/>
          <p:nvPr/>
        </p:nvSpPr>
        <p:spPr>
          <a:xfrm>
            <a:off x="4709160" y="4143851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99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zone-level recommendations</a:t>
            </a:r>
            <a:endParaRPr lang="en-US" sz="11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9C44485-A159-0A7A-FEB4-5C87DAFF2897}"/>
              </a:ext>
            </a:extLst>
          </p:cNvPr>
          <p:cNvSpPr/>
          <p:nvPr/>
        </p:nvSpPr>
        <p:spPr>
          <a:xfrm>
            <a:off x="1645920" y="4662633"/>
            <a:ext cx="5852160" cy="3474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3074E30-2457-5B5C-FEBF-14F84ED67F72}"/>
              </a:ext>
            </a:extLst>
          </p:cNvPr>
          <p:cNvSpPr/>
          <p:nvPr/>
        </p:nvSpPr>
        <p:spPr>
          <a:xfrm>
            <a:off x="1645920" y="4662633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 On-device. No cloud. No compromise.</a:t>
            </a:r>
            <a:endParaRPr lang="en-US" sz="1300" dirty="0"/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FC7B49FE-BD2A-87FD-3D98-016B73D930A6}"/>
              </a:ext>
            </a:extLst>
          </p:cNvPr>
          <p:cNvSpPr/>
          <p:nvPr/>
        </p:nvSpPr>
        <p:spPr>
          <a:xfrm>
            <a:off x="457200" y="65824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spc="300" dirty="0">
                <a:solidFill>
                  <a:schemeClr val="tx1"/>
                </a:solidFill>
              </a:rPr>
              <a:t>HOW IS IT DIFFERENT?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37033C41-682C-9126-476D-A92E9E417F02}"/>
              </a:ext>
            </a:extLst>
          </p:cNvPr>
          <p:cNvSpPr/>
          <p:nvPr/>
        </p:nvSpPr>
        <p:spPr>
          <a:xfrm>
            <a:off x="457200" y="1188601"/>
            <a:ext cx="777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435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 0">
            <a:extLst>
              <a:ext uri="{FF2B5EF4-FFF2-40B4-BE49-F238E27FC236}">
                <a16:creationId xmlns:a16="http://schemas.microsoft.com/office/drawing/2014/main" id="{E7DC29D5-8EBA-B12A-8687-A714D628B781}"/>
              </a:ext>
            </a:extLst>
          </p:cNvPr>
          <p:cNvSpPr/>
          <p:nvPr/>
        </p:nvSpPr>
        <p:spPr>
          <a:xfrm>
            <a:off x="457200" y="65824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tx1"/>
                </a:solidFill>
              </a:rPr>
              <a:t>FEATURES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4CB3B33-DBEC-7230-9BE5-1F00B68F43D4}"/>
              </a:ext>
            </a:extLst>
          </p:cNvPr>
          <p:cNvSpPr/>
          <p:nvPr/>
        </p:nvSpPr>
        <p:spPr>
          <a:xfrm>
            <a:off x="457200" y="1188601"/>
            <a:ext cx="777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41671864-5A6A-50FD-99BA-1ABE1339105E}"/>
              </a:ext>
            </a:extLst>
          </p:cNvPr>
          <p:cNvSpPr/>
          <p:nvPr/>
        </p:nvSpPr>
        <p:spPr>
          <a:xfrm>
            <a:off x="457200" y="1435489"/>
            <a:ext cx="2560320" cy="1600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0CC3B31-AA3D-A7D2-019D-ACF0B2A08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18369"/>
            <a:ext cx="502920" cy="502920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E162B3F8-895E-D830-F51B-7AF5CDA60DD1}"/>
              </a:ext>
            </a:extLst>
          </p:cNvPr>
          <p:cNvSpPr/>
          <p:nvPr/>
        </p:nvSpPr>
        <p:spPr>
          <a:xfrm>
            <a:off x="1234440" y="160008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</a:rPr>
              <a:t>3D Campus Map</a:t>
            </a:r>
            <a:endParaRPr lang="en-US" sz="14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E9092EBB-FBD0-39DC-1833-0869F723E9AD}"/>
              </a:ext>
            </a:extLst>
          </p:cNvPr>
          <p:cNvSpPr/>
          <p:nvPr/>
        </p:nvSpPr>
        <p:spPr>
          <a:xfrm>
            <a:off x="594360" y="2185297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WebGL interactive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building visualization</a:t>
            </a:r>
            <a:endParaRPr lang="en-US" sz="11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D6DBA7EC-4F86-68F3-0BA9-FDF7712B29BF}"/>
              </a:ext>
            </a:extLst>
          </p:cNvPr>
          <p:cNvSpPr/>
          <p:nvPr/>
        </p:nvSpPr>
        <p:spPr>
          <a:xfrm>
            <a:off x="3291840" y="1435489"/>
            <a:ext cx="2560320" cy="1600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4AA22C32-2904-4C32-321E-1F7B75BB2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1618369"/>
            <a:ext cx="502920" cy="502920"/>
          </a:xfrm>
          <a:prstGeom prst="rect">
            <a:avLst/>
          </a:prstGeom>
        </p:spPr>
      </p:pic>
      <p:sp>
        <p:nvSpPr>
          <p:cNvPr id="38" name="Text 6">
            <a:extLst>
              <a:ext uri="{FF2B5EF4-FFF2-40B4-BE49-F238E27FC236}">
                <a16:creationId xmlns:a16="http://schemas.microsoft.com/office/drawing/2014/main" id="{E6BC5D61-5F69-A987-AFC4-6CD604C11AD4}"/>
              </a:ext>
            </a:extLst>
          </p:cNvPr>
          <p:cNvSpPr/>
          <p:nvPr/>
        </p:nvSpPr>
        <p:spPr>
          <a:xfrm>
            <a:off x="4069080" y="160008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</a:rPr>
              <a:t>Live Grid Status</a:t>
            </a:r>
            <a:endParaRPr lang="en-US" sz="14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CFAA41AF-6220-EA95-FE59-85A63701651A}"/>
              </a:ext>
            </a:extLst>
          </p:cNvPr>
          <p:cNvSpPr/>
          <p:nvPr/>
        </p:nvSpPr>
        <p:spPr>
          <a:xfrm>
            <a:off x="3429000" y="2185297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Voltage, frequency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&amp; power quality</a:t>
            </a:r>
            <a:endParaRPr lang="en-US" sz="11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57950F63-55DB-5BD0-9869-B739DEC3658A}"/>
              </a:ext>
            </a:extLst>
          </p:cNvPr>
          <p:cNvSpPr/>
          <p:nvPr/>
        </p:nvSpPr>
        <p:spPr>
          <a:xfrm>
            <a:off x="6126480" y="1435489"/>
            <a:ext cx="2560320" cy="1600200"/>
          </a:xfrm>
          <a:prstGeom prst="rect">
            <a:avLst/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AFF44034-6814-6B68-93FF-2DEF0F0830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618369"/>
            <a:ext cx="502920" cy="502920"/>
          </a:xfrm>
          <a:prstGeom prst="rect">
            <a:avLst/>
          </a:prstGeom>
        </p:spPr>
      </p:pic>
      <p:sp>
        <p:nvSpPr>
          <p:cNvPr id="42" name="Text 9">
            <a:extLst>
              <a:ext uri="{FF2B5EF4-FFF2-40B4-BE49-F238E27FC236}">
                <a16:creationId xmlns:a16="http://schemas.microsoft.com/office/drawing/2014/main" id="{EEC2E1B7-64C5-8DA5-8E5E-45814A31B9F9}"/>
              </a:ext>
            </a:extLst>
          </p:cNvPr>
          <p:cNvSpPr/>
          <p:nvPr/>
        </p:nvSpPr>
        <p:spPr>
          <a:xfrm>
            <a:off x="6903720" y="160008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</a:rPr>
              <a:t>Solar PV</a:t>
            </a:r>
            <a:endParaRPr lang="en-US" sz="1400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21B35235-EC13-2C32-FF1E-7A4598628493}"/>
              </a:ext>
            </a:extLst>
          </p:cNvPr>
          <p:cNvSpPr/>
          <p:nvPr/>
        </p:nvSpPr>
        <p:spPr>
          <a:xfrm>
            <a:off x="6263640" y="2185297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Rooftop array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&amp; MPPT monitoring</a:t>
            </a:r>
            <a:endParaRPr lang="en-US" sz="110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92A98378-2D03-7DC2-4ACE-B2F00D7D3D14}"/>
              </a:ext>
            </a:extLst>
          </p:cNvPr>
          <p:cNvSpPr/>
          <p:nvPr/>
        </p:nvSpPr>
        <p:spPr>
          <a:xfrm>
            <a:off x="457200" y="3264289"/>
            <a:ext cx="2560320" cy="160020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88F1B24B-2FE8-9745-29EA-A3C9570116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447169"/>
            <a:ext cx="502920" cy="502920"/>
          </a:xfrm>
          <a:prstGeom prst="rect">
            <a:avLst/>
          </a:prstGeom>
        </p:spPr>
      </p:pic>
      <p:sp>
        <p:nvSpPr>
          <p:cNvPr id="46" name="Text 12">
            <a:extLst>
              <a:ext uri="{FF2B5EF4-FFF2-40B4-BE49-F238E27FC236}">
                <a16:creationId xmlns:a16="http://schemas.microsoft.com/office/drawing/2014/main" id="{BEE92773-BC51-5617-B690-FC39023C506E}"/>
              </a:ext>
            </a:extLst>
          </p:cNvPr>
          <p:cNvSpPr/>
          <p:nvPr/>
        </p:nvSpPr>
        <p:spPr>
          <a:xfrm>
            <a:off x="1234440" y="342888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</a:rPr>
              <a:t>Alert Engine</a:t>
            </a:r>
            <a:endParaRPr lang="en-US" sz="14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38E9ECB7-8630-9953-B2E8-088FE7695AFA}"/>
              </a:ext>
            </a:extLst>
          </p:cNvPr>
          <p:cNvSpPr/>
          <p:nvPr/>
        </p:nvSpPr>
        <p:spPr>
          <a:xfrm>
            <a:off x="594360" y="4014097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Instant anomaly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detection &amp; alerts</a:t>
            </a:r>
            <a:endParaRPr lang="en-US" sz="1100" dirty="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9F7DC0BE-456F-CDD5-40A8-F69114959289}"/>
              </a:ext>
            </a:extLst>
          </p:cNvPr>
          <p:cNvSpPr/>
          <p:nvPr/>
        </p:nvSpPr>
        <p:spPr>
          <a:xfrm>
            <a:off x="3291840" y="3264289"/>
            <a:ext cx="2560320" cy="1600200"/>
          </a:xfrm>
          <a:prstGeom prst="rect">
            <a:avLst/>
          </a:prstGeom>
          <a:solidFill>
            <a:srgbClr val="111827"/>
          </a:solidFill>
          <a:ln w="1905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BBC1073B-826C-F9E6-1AB8-B628AF83A6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447169"/>
            <a:ext cx="502920" cy="502920"/>
          </a:xfrm>
          <a:prstGeom prst="rect">
            <a:avLst/>
          </a:prstGeom>
        </p:spPr>
      </p:pic>
      <p:sp>
        <p:nvSpPr>
          <p:cNvPr id="50" name="Text 15">
            <a:extLst>
              <a:ext uri="{FF2B5EF4-FFF2-40B4-BE49-F238E27FC236}">
                <a16:creationId xmlns:a16="http://schemas.microsoft.com/office/drawing/2014/main" id="{49C5AD56-43FB-298C-2726-E373677B52C8}"/>
              </a:ext>
            </a:extLst>
          </p:cNvPr>
          <p:cNvSpPr/>
          <p:nvPr/>
        </p:nvSpPr>
        <p:spPr>
          <a:xfrm>
            <a:off x="4069080" y="342888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</a:rPr>
              <a:t>AI Chatbot</a:t>
            </a:r>
            <a:endParaRPr lang="en-US" sz="14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37BD8A23-B692-7444-BCB5-F1D7C68F4C3C}"/>
              </a:ext>
            </a:extLst>
          </p:cNvPr>
          <p:cNvSpPr/>
          <p:nvPr/>
        </p:nvSpPr>
        <p:spPr>
          <a:xfrm>
            <a:off x="3429000" y="4014097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Natural language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energy intelligence</a:t>
            </a:r>
            <a:endParaRPr lang="en-US" sz="1100" dirty="0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EF619E16-0933-0AEF-8D4A-AF68E9EEEC1E}"/>
              </a:ext>
            </a:extLst>
          </p:cNvPr>
          <p:cNvSpPr/>
          <p:nvPr/>
        </p:nvSpPr>
        <p:spPr>
          <a:xfrm>
            <a:off x="6126480" y="3264289"/>
            <a:ext cx="2560320" cy="1600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92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3" name="Image 5" descr="preencoded.png">
            <a:extLst>
              <a:ext uri="{FF2B5EF4-FFF2-40B4-BE49-F238E27FC236}">
                <a16:creationId xmlns:a16="http://schemas.microsoft.com/office/drawing/2014/main" id="{6AD6D751-4A55-E787-F613-133B0FAD82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3447169"/>
            <a:ext cx="502920" cy="502920"/>
          </a:xfrm>
          <a:prstGeom prst="rect">
            <a:avLst/>
          </a:prstGeom>
        </p:spPr>
      </p:pic>
      <p:sp>
        <p:nvSpPr>
          <p:cNvPr id="54" name="Text 18">
            <a:extLst>
              <a:ext uri="{FF2B5EF4-FFF2-40B4-BE49-F238E27FC236}">
                <a16:creationId xmlns:a16="http://schemas.microsoft.com/office/drawing/2014/main" id="{7819D3B7-76A1-152A-3CDA-E1F48F5CEEC7}"/>
              </a:ext>
            </a:extLst>
          </p:cNvPr>
          <p:cNvSpPr/>
          <p:nvPr/>
        </p:nvSpPr>
        <p:spPr>
          <a:xfrm>
            <a:off x="6903720" y="342888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</a:rPr>
              <a:t>Analytics</a:t>
            </a:r>
            <a:endParaRPr lang="en-US" sz="14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B13F42F1-E442-C39B-1319-F442BC1E6E9F}"/>
              </a:ext>
            </a:extLst>
          </p:cNvPr>
          <p:cNvSpPr/>
          <p:nvPr/>
        </p:nvSpPr>
        <p:spPr>
          <a:xfrm>
            <a:off x="6263640" y="4014097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Weekly reports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sustainability tracking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2B410429-E3F6-249A-9EF0-7E604715F535}"/>
              </a:ext>
            </a:extLst>
          </p:cNvPr>
          <p:cNvSpPr/>
          <p:nvPr/>
        </p:nvSpPr>
        <p:spPr>
          <a:xfrm>
            <a:off x="457200" y="6760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spc="300" dirty="0">
                <a:solidFill>
                  <a:schemeClr val="tx1"/>
                </a:solidFill>
              </a:rPr>
              <a:t>PROCESS FLOW DIAGRAM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ACA719F7-498E-834C-8657-D9E51DE0BCCA}"/>
              </a:ext>
            </a:extLst>
          </p:cNvPr>
          <p:cNvSpPr/>
          <p:nvPr/>
        </p:nvSpPr>
        <p:spPr>
          <a:xfrm>
            <a:off x="457200" y="1206380"/>
            <a:ext cx="10972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993EBA30-228A-7782-77FD-D786E499D6D6}"/>
              </a:ext>
            </a:extLst>
          </p:cNvPr>
          <p:cNvSpPr/>
          <p:nvPr/>
        </p:nvSpPr>
        <p:spPr>
          <a:xfrm>
            <a:off x="960120" y="1544708"/>
            <a:ext cx="1188720" cy="11887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CCB8094B-789C-9B18-E1B1-F973B1B5B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1709300"/>
            <a:ext cx="868680" cy="868680"/>
          </a:xfrm>
          <a:prstGeom prst="rect">
            <a:avLst/>
          </a:prstGeom>
        </p:spPr>
      </p:pic>
      <p:sp>
        <p:nvSpPr>
          <p:cNvPr id="37" name="Text 3">
            <a:extLst>
              <a:ext uri="{FF2B5EF4-FFF2-40B4-BE49-F238E27FC236}">
                <a16:creationId xmlns:a16="http://schemas.microsoft.com/office/drawing/2014/main" id="{FDDADAE0-39BD-9EB5-09D0-C1D4EB60CDF2}"/>
              </a:ext>
            </a:extLst>
          </p:cNvPr>
          <p:cNvSpPr/>
          <p:nvPr/>
        </p:nvSpPr>
        <p:spPr>
          <a:xfrm>
            <a:off x="1344168" y="15447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712"/>
                </a:solidFill>
              </a:rPr>
              <a:t>01</a:t>
            </a:r>
            <a:endParaRPr lang="en-US" sz="100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4C8B569E-C54E-FF7D-D733-A877D4A82AEF}"/>
              </a:ext>
            </a:extLst>
          </p:cNvPr>
          <p:cNvSpPr/>
          <p:nvPr/>
        </p:nvSpPr>
        <p:spPr>
          <a:xfrm>
            <a:off x="2313432" y="2075060"/>
            <a:ext cx="41148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510D119D-FF65-0562-B02E-C38048F185DD}"/>
              </a:ext>
            </a:extLst>
          </p:cNvPr>
          <p:cNvSpPr/>
          <p:nvPr/>
        </p:nvSpPr>
        <p:spPr>
          <a:xfrm>
            <a:off x="2633472" y="188303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A3AF"/>
                </a:solidFill>
              </a:rPr>
              <a:t>›</a:t>
            </a:r>
            <a:endParaRPr lang="en-US" sz="24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9BA30B0B-A970-FA61-FBD9-B094766E50BB}"/>
              </a:ext>
            </a:extLst>
          </p:cNvPr>
          <p:cNvSpPr/>
          <p:nvPr/>
        </p:nvSpPr>
        <p:spPr>
          <a:xfrm>
            <a:off x="457200" y="28705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</a:rPr>
              <a:t>Sensors</a:t>
            </a:r>
            <a:endParaRPr lang="en-US" sz="16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F0905186-11FD-C868-63DC-B1E4D8A24A50}"/>
              </a:ext>
            </a:extLst>
          </p:cNvPr>
          <p:cNvSpPr/>
          <p:nvPr/>
        </p:nvSpPr>
        <p:spPr>
          <a:xfrm>
            <a:off x="457200" y="32820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Campus IoT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sensors collect data</a:t>
            </a:r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55FCE76F-5F6F-35FE-02CD-856788912286}"/>
              </a:ext>
            </a:extLst>
          </p:cNvPr>
          <p:cNvSpPr/>
          <p:nvPr/>
        </p:nvSpPr>
        <p:spPr>
          <a:xfrm>
            <a:off x="3063240" y="1544708"/>
            <a:ext cx="1188720" cy="11887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475014F6-0025-3F24-2C8D-E82D0BDEB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1709300"/>
            <a:ext cx="868680" cy="868680"/>
          </a:xfrm>
          <a:prstGeom prst="rect">
            <a:avLst/>
          </a:prstGeom>
        </p:spPr>
      </p:pic>
      <p:sp>
        <p:nvSpPr>
          <p:cNvPr id="44" name="Text 9">
            <a:extLst>
              <a:ext uri="{FF2B5EF4-FFF2-40B4-BE49-F238E27FC236}">
                <a16:creationId xmlns:a16="http://schemas.microsoft.com/office/drawing/2014/main" id="{F3BD430C-CD12-4E33-98F8-FFFA2AC021D2}"/>
              </a:ext>
            </a:extLst>
          </p:cNvPr>
          <p:cNvSpPr/>
          <p:nvPr/>
        </p:nvSpPr>
        <p:spPr>
          <a:xfrm>
            <a:off x="3447288" y="15081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712"/>
                </a:solidFill>
              </a:rPr>
              <a:t>02</a:t>
            </a:r>
            <a:endParaRPr lang="en-US" sz="100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827DC83E-45CE-4F48-39B4-C5EF988D308B}"/>
              </a:ext>
            </a:extLst>
          </p:cNvPr>
          <p:cNvSpPr/>
          <p:nvPr/>
        </p:nvSpPr>
        <p:spPr>
          <a:xfrm>
            <a:off x="4416552" y="2075060"/>
            <a:ext cx="41148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5595ABEF-2185-1111-9563-C3DA7F1F99C6}"/>
              </a:ext>
            </a:extLst>
          </p:cNvPr>
          <p:cNvSpPr/>
          <p:nvPr/>
        </p:nvSpPr>
        <p:spPr>
          <a:xfrm>
            <a:off x="4736592" y="188303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A3AF"/>
                </a:solidFill>
              </a:rPr>
              <a:t>›</a:t>
            </a:r>
            <a:endParaRPr lang="en-US" sz="240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5AD06EC0-B8B1-1FD7-66A9-A116B09587FD}"/>
              </a:ext>
            </a:extLst>
          </p:cNvPr>
          <p:cNvSpPr/>
          <p:nvPr/>
        </p:nvSpPr>
        <p:spPr>
          <a:xfrm>
            <a:off x="2560320" y="28705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Ingest</a:t>
            </a:r>
            <a:endParaRPr lang="en-US" sz="16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A80F6099-B977-67C0-04A6-03E72E574504}"/>
              </a:ext>
            </a:extLst>
          </p:cNvPr>
          <p:cNvSpPr/>
          <p:nvPr/>
        </p:nvSpPr>
        <p:spPr>
          <a:xfrm>
            <a:off x="2560320" y="32820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Real-time data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streaming &amp; parsing</a:t>
            </a:r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A08AE3C1-8406-9DBD-EAC3-1C8270FD5DA0}"/>
              </a:ext>
            </a:extLst>
          </p:cNvPr>
          <p:cNvSpPr/>
          <p:nvPr/>
        </p:nvSpPr>
        <p:spPr>
          <a:xfrm>
            <a:off x="5166360" y="1544708"/>
            <a:ext cx="1188720" cy="11887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36AF8FCA-C042-3D0B-796A-0106769D42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1808" y="1709300"/>
            <a:ext cx="868680" cy="868680"/>
          </a:xfrm>
          <a:prstGeom prst="rect">
            <a:avLst/>
          </a:prstGeom>
        </p:spPr>
      </p:pic>
      <p:sp>
        <p:nvSpPr>
          <p:cNvPr id="51" name="Text 15">
            <a:extLst>
              <a:ext uri="{FF2B5EF4-FFF2-40B4-BE49-F238E27FC236}">
                <a16:creationId xmlns:a16="http://schemas.microsoft.com/office/drawing/2014/main" id="{27884DD9-577D-77CF-8245-92618E7BA5A5}"/>
              </a:ext>
            </a:extLst>
          </p:cNvPr>
          <p:cNvSpPr/>
          <p:nvPr/>
        </p:nvSpPr>
        <p:spPr>
          <a:xfrm>
            <a:off x="5550408" y="153982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712"/>
                </a:solidFill>
              </a:rPr>
              <a:t>03</a:t>
            </a:r>
            <a:endParaRPr lang="en-US" sz="1000" dirty="0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564556AE-FBD6-9E20-9B59-BB302C2D83E4}"/>
              </a:ext>
            </a:extLst>
          </p:cNvPr>
          <p:cNvSpPr/>
          <p:nvPr/>
        </p:nvSpPr>
        <p:spPr>
          <a:xfrm>
            <a:off x="6560820" y="2064660"/>
            <a:ext cx="41148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158190E6-5D07-EBF2-6AC4-8285D8FA94C7}"/>
              </a:ext>
            </a:extLst>
          </p:cNvPr>
          <p:cNvSpPr/>
          <p:nvPr/>
        </p:nvSpPr>
        <p:spPr>
          <a:xfrm>
            <a:off x="6880860" y="186621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A3AF"/>
                </a:solidFill>
              </a:rPr>
              <a:t>›</a:t>
            </a:r>
            <a:endParaRPr lang="en-US" sz="2400" dirty="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53B18056-C95B-67B6-4058-E219B62CC17D}"/>
              </a:ext>
            </a:extLst>
          </p:cNvPr>
          <p:cNvSpPr/>
          <p:nvPr/>
        </p:nvSpPr>
        <p:spPr>
          <a:xfrm>
            <a:off x="4663440" y="28705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</a:rPr>
              <a:t>AI Engine</a:t>
            </a:r>
            <a:endParaRPr lang="en-US" sz="16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520A6F5F-0F7B-3F75-1D39-D91B89099277}"/>
              </a:ext>
            </a:extLst>
          </p:cNvPr>
          <p:cNvSpPr/>
          <p:nvPr/>
        </p:nvSpPr>
        <p:spPr>
          <a:xfrm>
            <a:off x="4663440" y="32820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Anomaly detect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&amp; forecasting</a:t>
            </a:r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DB2B3075-7BB8-C2C6-8F2C-79F80D8254AF}"/>
              </a:ext>
            </a:extLst>
          </p:cNvPr>
          <p:cNvSpPr/>
          <p:nvPr/>
        </p:nvSpPr>
        <p:spPr>
          <a:xfrm>
            <a:off x="7269480" y="1544708"/>
            <a:ext cx="1188720" cy="11887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AB3DBE9F-196C-0358-FC1D-1E7012DD4F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1709300"/>
            <a:ext cx="868680" cy="868680"/>
          </a:xfrm>
          <a:prstGeom prst="rect">
            <a:avLst/>
          </a:prstGeom>
        </p:spPr>
      </p:pic>
      <p:sp>
        <p:nvSpPr>
          <p:cNvPr id="58" name="Text 21">
            <a:extLst>
              <a:ext uri="{FF2B5EF4-FFF2-40B4-BE49-F238E27FC236}">
                <a16:creationId xmlns:a16="http://schemas.microsoft.com/office/drawing/2014/main" id="{1A5F9788-6578-3DAE-DD04-2F28886D83CC}"/>
              </a:ext>
            </a:extLst>
          </p:cNvPr>
          <p:cNvSpPr/>
          <p:nvPr/>
        </p:nvSpPr>
        <p:spPr>
          <a:xfrm>
            <a:off x="7653528" y="15447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0712"/>
                </a:solidFill>
              </a:rPr>
              <a:t>04</a:t>
            </a:r>
            <a:endParaRPr lang="en-US" sz="1000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EAC1B017-8710-8506-B3A9-A9FFA648873E}"/>
              </a:ext>
            </a:extLst>
          </p:cNvPr>
          <p:cNvSpPr/>
          <p:nvPr/>
        </p:nvSpPr>
        <p:spPr>
          <a:xfrm>
            <a:off x="6766560" y="28705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Dashboard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4D453D11-F83F-9AFE-4AE4-1920D297F9A9}"/>
              </a:ext>
            </a:extLst>
          </p:cNvPr>
          <p:cNvSpPr/>
          <p:nvPr/>
        </p:nvSpPr>
        <p:spPr>
          <a:xfrm>
            <a:off x="6766560" y="32820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Live visualisation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&amp; alerts</a:t>
            </a:r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86529212-4092-2B1C-E378-7C015C7B3955}"/>
              </a:ext>
            </a:extLst>
          </p:cNvPr>
          <p:cNvSpPr/>
          <p:nvPr/>
        </p:nvSpPr>
        <p:spPr>
          <a:xfrm>
            <a:off x="457200" y="46035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B923C"/>
                </a:solidFill>
              </a:rPr>
              <a:t>Everything automated. Zero config. Just plug it in.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FA64A8CF-25E3-F830-E0B5-2B28E1B5FDCA}"/>
              </a:ext>
            </a:extLst>
          </p:cNvPr>
          <p:cNvSpPr/>
          <p:nvPr/>
        </p:nvSpPr>
        <p:spPr>
          <a:xfrm>
            <a:off x="457200" y="658249"/>
            <a:ext cx="83751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spc="300" dirty="0">
                <a:solidFill>
                  <a:schemeClr val="tx1"/>
                </a:solidFill>
              </a:rPr>
              <a:t>WIREFRAMES/MOCK DIAGRAMS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6CA1EFC-4CAF-FFE8-3481-A984BAF2CB2B}"/>
              </a:ext>
            </a:extLst>
          </p:cNvPr>
          <p:cNvSpPr/>
          <p:nvPr/>
        </p:nvSpPr>
        <p:spPr>
          <a:xfrm>
            <a:off x="457200" y="1188601"/>
            <a:ext cx="777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4" name="Shape 10">
            <a:extLst>
              <a:ext uri="{FF2B5EF4-FFF2-40B4-BE49-F238E27FC236}">
                <a16:creationId xmlns:a16="http://schemas.microsoft.com/office/drawing/2014/main" id="{9035BE6F-4E47-EE01-DD79-B0B88FCFBEBF}"/>
              </a:ext>
            </a:extLst>
          </p:cNvPr>
          <p:cNvSpPr/>
          <p:nvPr/>
        </p:nvSpPr>
        <p:spPr>
          <a:xfrm>
            <a:off x="4937634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11">
            <a:extLst>
              <a:ext uri="{FF2B5EF4-FFF2-40B4-BE49-F238E27FC236}">
                <a16:creationId xmlns:a16="http://schemas.microsoft.com/office/drawing/2014/main" id="{0C3AB4CB-5281-05CD-FC01-B06E45FD18B0}"/>
              </a:ext>
            </a:extLst>
          </p:cNvPr>
          <p:cNvSpPr/>
          <p:nvPr/>
        </p:nvSpPr>
        <p:spPr>
          <a:xfrm>
            <a:off x="5467986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Shape 12">
            <a:extLst>
              <a:ext uri="{FF2B5EF4-FFF2-40B4-BE49-F238E27FC236}">
                <a16:creationId xmlns:a16="http://schemas.microsoft.com/office/drawing/2014/main" id="{27BA59C8-B43E-8FA9-3D46-CD92D245EB6A}"/>
              </a:ext>
            </a:extLst>
          </p:cNvPr>
          <p:cNvSpPr/>
          <p:nvPr/>
        </p:nvSpPr>
        <p:spPr>
          <a:xfrm>
            <a:off x="5998338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hape 13">
            <a:extLst>
              <a:ext uri="{FF2B5EF4-FFF2-40B4-BE49-F238E27FC236}">
                <a16:creationId xmlns:a16="http://schemas.microsoft.com/office/drawing/2014/main" id="{9F723B37-EF60-DE33-0D5A-38DC247DE2CA}"/>
              </a:ext>
            </a:extLst>
          </p:cNvPr>
          <p:cNvSpPr/>
          <p:nvPr/>
        </p:nvSpPr>
        <p:spPr>
          <a:xfrm>
            <a:off x="6528690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hape 14">
            <a:extLst>
              <a:ext uri="{FF2B5EF4-FFF2-40B4-BE49-F238E27FC236}">
                <a16:creationId xmlns:a16="http://schemas.microsoft.com/office/drawing/2014/main" id="{A57F6F2F-74D8-FB53-E88B-64234D1319E9}"/>
              </a:ext>
            </a:extLst>
          </p:cNvPr>
          <p:cNvSpPr/>
          <p:nvPr/>
        </p:nvSpPr>
        <p:spPr>
          <a:xfrm>
            <a:off x="7059042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Shape 15">
            <a:extLst>
              <a:ext uri="{FF2B5EF4-FFF2-40B4-BE49-F238E27FC236}">
                <a16:creationId xmlns:a16="http://schemas.microsoft.com/office/drawing/2014/main" id="{445FCE44-C17A-F45D-84BE-A2815A85AE50}"/>
              </a:ext>
            </a:extLst>
          </p:cNvPr>
          <p:cNvSpPr/>
          <p:nvPr/>
        </p:nvSpPr>
        <p:spPr>
          <a:xfrm>
            <a:off x="7589394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hape 16">
            <a:extLst>
              <a:ext uri="{FF2B5EF4-FFF2-40B4-BE49-F238E27FC236}">
                <a16:creationId xmlns:a16="http://schemas.microsoft.com/office/drawing/2014/main" id="{5BCB776B-5075-E543-5756-8D8301E6113C}"/>
              </a:ext>
            </a:extLst>
          </p:cNvPr>
          <p:cNvSpPr/>
          <p:nvPr/>
        </p:nvSpPr>
        <p:spPr>
          <a:xfrm>
            <a:off x="8119746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hape 17">
            <a:extLst>
              <a:ext uri="{FF2B5EF4-FFF2-40B4-BE49-F238E27FC236}">
                <a16:creationId xmlns:a16="http://schemas.microsoft.com/office/drawing/2014/main" id="{950F42FD-6741-F04C-49CE-4CDBEB7E539D}"/>
              </a:ext>
            </a:extLst>
          </p:cNvPr>
          <p:cNvSpPr/>
          <p:nvPr/>
        </p:nvSpPr>
        <p:spPr>
          <a:xfrm>
            <a:off x="8650098" y="149236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hape 18">
            <a:extLst>
              <a:ext uri="{FF2B5EF4-FFF2-40B4-BE49-F238E27FC236}">
                <a16:creationId xmlns:a16="http://schemas.microsoft.com/office/drawing/2014/main" id="{734B616A-7AB4-6FA1-454F-2B561AD7C5EC}"/>
              </a:ext>
            </a:extLst>
          </p:cNvPr>
          <p:cNvSpPr/>
          <p:nvPr/>
        </p:nvSpPr>
        <p:spPr>
          <a:xfrm>
            <a:off x="4937634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19">
            <a:extLst>
              <a:ext uri="{FF2B5EF4-FFF2-40B4-BE49-F238E27FC236}">
                <a16:creationId xmlns:a16="http://schemas.microsoft.com/office/drawing/2014/main" id="{2ACD0751-95BD-83B7-5068-DF76A8E0FCC6}"/>
              </a:ext>
            </a:extLst>
          </p:cNvPr>
          <p:cNvSpPr/>
          <p:nvPr/>
        </p:nvSpPr>
        <p:spPr>
          <a:xfrm>
            <a:off x="5467986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hape 20">
            <a:extLst>
              <a:ext uri="{FF2B5EF4-FFF2-40B4-BE49-F238E27FC236}">
                <a16:creationId xmlns:a16="http://schemas.microsoft.com/office/drawing/2014/main" id="{4AAB8062-F3BC-1E93-6C82-11D85F9B3429}"/>
              </a:ext>
            </a:extLst>
          </p:cNvPr>
          <p:cNvSpPr/>
          <p:nvPr/>
        </p:nvSpPr>
        <p:spPr>
          <a:xfrm>
            <a:off x="5998338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hape 21">
            <a:extLst>
              <a:ext uri="{FF2B5EF4-FFF2-40B4-BE49-F238E27FC236}">
                <a16:creationId xmlns:a16="http://schemas.microsoft.com/office/drawing/2014/main" id="{C27CEF86-C2BA-C2E0-6A7E-F52367467777}"/>
              </a:ext>
            </a:extLst>
          </p:cNvPr>
          <p:cNvSpPr/>
          <p:nvPr/>
        </p:nvSpPr>
        <p:spPr>
          <a:xfrm>
            <a:off x="6528690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Shape 22">
            <a:extLst>
              <a:ext uri="{FF2B5EF4-FFF2-40B4-BE49-F238E27FC236}">
                <a16:creationId xmlns:a16="http://schemas.microsoft.com/office/drawing/2014/main" id="{4456F203-149B-36EA-6386-2CEE42DC3E13}"/>
              </a:ext>
            </a:extLst>
          </p:cNvPr>
          <p:cNvSpPr/>
          <p:nvPr/>
        </p:nvSpPr>
        <p:spPr>
          <a:xfrm>
            <a:off x="7059042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hape 23">
            <a:extLst>
              <a:ext uri="{FF2B5EF4-FFF2-40B4-BE49-F238E27FC236}">
                <a16:creationId xmlns:a16="http://schemas.microsoft.com/office/drawing/2014/main" id="{D24D2EA6-7C44-5F8F-C432-1081AA1386C7}"/>
              </a:ext>
            </a:extLst>
          </p:cNvPr>
          <p:cNvSpPr/>
          <p:nvPr/>
        </p:nvSpPr>
        <p:spPr>
          <a:xfrm>
            <a:off x="7589394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hape 24">
            <a:extLst>
              <a:ext uri="{FF2B5EF4-FFF2-40B4-BE49-F238E27FC236}">
                <a16:creationId xmlns:a16="http://schemas.microsoft.com/office/drawing/2014/main" id="{E7601075-AE15-0100-B171-860AD4099320}"/>
              </a:ext>
            </a:extLst>
          </p:cNvPr>
          <p:cNvSpPr/>
          <p:nvPr/>
        </p:nvSpPr>
        <p:spPr>
          <a:xfrm>
            <a:off x="8119746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Shape 25">
            <a:extLst>
              <a:ext uri="{FF2B5EF4-FFF2-40B4-BE49-F238E27FC236}">
                <a16:creationId xmlns:a16="http://schemas.microsoft.com/office/drawing/2014/main" id="{6A8B5C7D-2B92-77FB-C72F-B697C44A117B}"/>
              </a:ext>
            </a:extLst>
          </p:cNvPr>
          <p:cNvSpPr/>
          <p:nvPr/>
        </p:nvSpPr>
        <p:spPr>
          <a:xfrm>
            <a:off x="8650098" y="2041006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26">
            <a:extLst>
              <a:ext uri="{FF2B5EF4-FFF2-40B4-BE49-F238E27FC236}">
                <a16:creationId xmlns:a16="http://schemas.microsoft.com/office/drawing/2014/main" id="{1DA503B4-27D4-FDAE-2F8D-F64383B055D5}"/>
              </a:ext>
            </a:extLst>
          </p:cNvPr>
          <p:cNvSpPr/>
          <p:nvPr/>
        </p:nvSpPr>
        <p:spPr>
          <a:xfrm>
            <a:off x="4937634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Shape 27">
            <a:extLst>
              <a:ext uri="{FF2B5EF4-FFF2-40B4-BE49-F238E27FC236}">
                <a16:creationId xmlns:a16="http://schemas.microsoft.com/office/drawing/2014/main" id="{8F7B14A2-33EF-3E9A-7DF7-54E2C7AC4619}"/>
              </a:ext>
            </a:extLst>
          </p:cNvPr>
          <p:cNvSpPr/>
          <p:nvPr/>
        </p:nvSpPr>
        <p:spPr>
          <a:xfrm>
            <a:off x="5467986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hape 28">
            <a:extLst>
              <a:ext uri="{FF2B5EF4-FFF2-40B4-BE49-F238E27FC236}">
                <a16:creationId xmlns:a16="http://schemas.microsoft.com/office/drawing/2014/main" id="{B277C2DD-B8B4-C30C-AD78-548EAC31134D}"/>
              </a:ext>
            </a:extLst>
          </p:cNvPr>
          <p:cNvSpPr/>
          <p:nvPr/>
        </p:nvSpPr>
        <p:spPr>
          <a:xfrm>
            <a:off x="5998338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29">
            <a:extLst>
              <a:ext uri="{FF2B5EF4-FFF2-40B4-BE49-F238E27FC236}">
                <a16:creationId xmlns:a16="http://schemas.microsoft.com/office/drawing/2014/main" id="{D6FA8EC9-CCDE-BF25-19B4-21667A36105D}"/>
              </a:ext>
            </a:extLst>
          </p:cNvPr>
          <p:cNvSpPr/>
          <p:nvPr/>
        </p:nvSpPr>
        <p:spPr>
          <a:xfrm>
            <a:off x="6528690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Shape 30">
            <a:extLst>
              <a:ext uri="{FF2B5EF4-FFF2-40B4-BE49-F238E27FC236}">
                <a16:creationId xmlns:a16="http://schemas.microsoft.com/office/drawing/2014/main" id="{D633C91F-5B56-47FC-1D76-C0EF17525AC6}"/>
              </a:ext>
            </a:extLst>
          </p:cNvPr>
          <p:cNvSpPr/>
          <p:nvPr/>
        </p:nvSpPr>
        <p:spPr>
          <a:xfrm>
            <a:off x="7059042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31">
            <a:extLst>
              <a:ext uri="{FF2B5EF4-FFF2-40B4-BE49-F238E27FC236}">
                <a16:creationId xmlns:a16="http://schemas.microsoft.com/office/drawing/2014/main" id="{8A4517F9-AEB8-C647-C3B8-F51D70EEE030}"/>
              </a:ext>
            </a:extLst>
          </p:cNvPr>
          <p:cNvSpPr/>
          <p:nvPr/>
        </p:nvSpPr>
        <p:spPr>
          <a:xfrm>
            <a:off x="7589394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Shape 32">
            <a:extLst>
              <a:ext uri="{FF2B5EF4-FFF2-40B4-BE49-F238E27FC236}">
                <a16:creationId xmlns:a16="http://schemas.microsoft.com/office/drawing/2014/main" id="{976E3BC1-2D67-495E-3D5C-A802BE11DB93}"/>
              </a:ext>
            </a:extLst>
          </p:cNvPr>
          <p:cNvSpPr/>
          <p:nvPr/>
        </p:nvSpPr>
        <p:spPr>
          <a:xfrm>
            <a:off x="8119746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hape 33">
            <a:extLst>
              <a:ext uri="{FF2B5EF4-FFF2-40B4-BE49-F238E27FC236}">
                <a16:creationId xmlns:a16="http://schemas.microsoft.com/office/drawing/2014/main" id="{BA578B63-661B-15BE-2C6E-4EABF85F24E0}"/>
              </a:ext>
            </a:extLst>
          </p:cNvPr>
          <p:cNvSpPr/>
          <p:nvPr/>
        </p:nvSpPr>
        <p:spPr>
          <a:xfrm>
            <a:off x="8650098" y="2521267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hape 42">
            <a:extLst>
              <a:ext uri="{FF2B5EF4-FFF2-40B4-BE49-F238E27FC236}">
                <a16:creationId xmlns:a16="http://schemas.microsoft.com/office/drawing/2014/main" id="{FF242B47-0DDC-64F6-4E51-626A282EFA93}"/>
              </a:ext>
            </a:extLst>
          </p:cNvPr>
          <p:cNvSpPr/>
          <p:nvPr/>
        </p:nvSpPr>
        <p:spPr>
          <a:xfrm>
            <a:off x="4937634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Shape 43">
            <a:extLst>
              <a:ext uri="{FF2B5EF4-FFF2-40B4-BE49-F238E27FC236}">
                <a16:creationId xmlns:a16="http://schemas.microsoft.com/office/drawing/2014/main" id="{E3F0269D-9114-70BD-70C6-4B11FC82182B}"/>
              </a:ext>
            </a:extLst>
          </p:cNvPr>
          <p:cNvSpPr/>
          <p:nvPr/>
        </p:nvSpPr>
        <p:spPr>
          <a:xfrm>
            <a:off x="5467986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hape 44">
            <a:extLst>
              <a:ext uri="{FF2B5EF4-FFF2-40B4-BE49-F238E27FC236}">
                <a16:creationId xmlns:a16="http://schemas.microsoft.com/office/drawing/2014/main" id="{88C06B6B-39DE-34F1-778A-D3938EE2783A}"/>
              </a:ext>
            </a:extLst>
          </p:cNvPr>
          <p:cNvSpPr/>
          <p:nvPr/>
        </p:nvSpPr>
        <p:spPr>
          <a:xfrm>
            <a:off x="5998338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45">
            <a:extLst>
              <a:ext uri="{FF2B5EF4-FFF2-40B4-BE49-F238E27FC236}">
                <a16:creationId xmlns:a16="http://schemas.microsoft.com/office/drawing/2014/main" id="{56C18D0F-874A-C119-D199-3A7395A66363}"/>
              </a:ext>
            </a:extLst>
          </p:cNvPr>
          <p:cNvSpPr/>
          <p:nvPr/>
        </p:nvSpPr>
        <p:spPr>
          <a:xfrm>
            <a:off x="6528690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hape 46">
            <a:extLst>
              <a:ext uri="{FF2B5EF4-FFF2-40B4-BE49-F238E27FC236}">
                <a16:creationId xmlns:a16="http://schemas.microsoft.com/office/drawing/2014/main" id="{7655FB0E-5B4F-FF0D-67B2-1837D10BFE4E}"/>
              </a:ext>
            </a:extLst>
          </p:cNvPr>
          <p:cNvSpPr/>
          <p:nvPr/>
        </p:nvSpPr>
        <p:spPr>
          <a:xfrm>
            <a:off x="7059042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Shape 47">
            <a:extLst>
              <a:ext uri="{FF2B5EF4-FFF2-40B4-BE49-F238E27FC236}">
                <a16:creationId xmlns:a16="http://schemas.microsoft.com/office/drawing/2014/main" id="{8926C9EA-463D-41C1-A1A6-47A2FFD580BA}"/>
              </a:ext>
            </a:extLst>
          </p:cNvPr>
          <p:cNvSpPr/>
          <p:nvPr/>
        </p:nvSpPr>
        <p:spPr>
          <a:xfrm>
            <a:off x="7589394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Shape 48">
            <a:extLst>
              <a:ext uri="{FF2B5EF4-FFF2-40B4-BE49-F238E27FC236}">
                <a16:creationId xmlns:a16="http://schemas.microsoft.com/office/drawing/2014/main" id="{620C58C7-87EE-1D39-ACC7-C2910C7054B1}"/>
              </a:ext>
            </a:extLst>
          </p:cNvPr>
          <p:cNvSpPr/>
          <p:nvPr/>
        </p:nvSpPr>
        <p:spPr>
          <a:xfrm>
            <a:off x="8119746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Shape 49">
            <a:extLst>
              <a:ext uri="{FF2B5EF4-FFF2-40B4-BE49-F238E27FC236}">
                <a16:creationId xmlns:a16="http://schemas.microsoft.com/office/drawing/2014/main" id="{F0AB518B-C781-AA3B-91B9-AED0FBF36E1A}"/>
              </a:ext>
            </a:extLst>
          </p:cNvPr>
          <p:cNvSpPr/>
          <p:nvPr/>
        </p:nvSpPr>
        <p:spPr>
          <a:xfrm>
            <a:off x="8650098" y="35591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Shape 58">
            <a:extLst>
              <a:ext uri="{FF2B5EF4-FFF2-40B4-BE49-F238E27FC236}">
                <a16:creationId xmlns:a16="http://schemas.microsoft.com/office/drawing/2014/main" id="{49679A74-572E-31D2-F0E2-8022093C2B2D}"/>
              </a:ext>
            </a:extLst>
          </p:cNvPr>
          <p:cNvSpPr/>
          <p:nvPr/>
        </p:nvSpPr>
        <p:spPr>
          <a:xfrm>
            <a:off x="4937634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Shape 59">
            <a:extLst>
              <a:ext uri="{FF2B5EF4-FFF2-40B4-BE49-F238E27FC236}">
                <a16:creationId xmlns:a16="http://schemas.microsoft.com/office/drawing/2014/main" id="{0DC113C9-F496-C7BF-BDC6-5E032452F921}"/>
              </a:ext>
            </a:extLst>
          </p:cNvPr>
          <p:cNvSpPr/>
          <p:nvPr/>
        </p:nvSpPr>
        <p:spPr>
          <a:xfrm>
            <a:off x="5467986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60">
            <a:extLst>
              <a:ext uri="{FF2B5EF4-FFF2-40B4-BE49-F238E27FC236}">
                <a16:creationId xmlns:a16="http://schemas.microsoft.com/office/drawing/2014/main" id="{BF5F1F3E-65C4-183D-3A18-51D50173F9BC}"/>
              </a:ext>
            </a:extLst>
          </p:cNvPr>
          <p:cNvSpPr/>
          <p:nvPr/>
        </p:nvSpPr>
        <p:spPr>
          <a:xfrm>
            <a:off x="5998338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hape 61">
            <a:extLst>
              <a:ext uri="{FF2B5EF4-FFF2-40B4-BE49-F238E27FC236}">
                <a16:creationId xmlns:a16="http://schemas.microsoft.com/office/drawing/2014/main" id="{629E142B-CF20-BCF1-EBDE-C8D067696711}"/>
              </a:ext>
            </a:extLst>
          </p:cNvPr>
          <p:cNvSpPr/>
          <p:nvPr/>
        </p:nvSpPr>
        <p:spPr>
          <a:xfrm>
            <a:off x="6528690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Shape 62">
            <a:extLst>
              <a:ext uri="{FF2B5EF4-FFF2-40B4-BE49-F238E27FC236}">
                <a16:creationId xmlns:a16="http://schemas.microsoft.com/office/drawing/2014/main" id="{ED03185E-DD16-1FBD-8790-8B2E4FC4483C}"/>
              </a:ext>
            </a:extLst>
          </p:cNvPr>
          <p:cNvSpPr/>
          <p:nvPr/>
        </p:nvSpPr>
        <p:spPr>
          <a:xfrm>
            <a:off x="7059042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hape 63">
            <a:extLst>
              <a:ext uri="{FF2B5EF4-FFF2-40B4-BE49-F238E27FC236}">
                <a16:creationId xmlns:a16="http://schemas.microsoft.com/office/drawing/2014/main" id="{4020A800-3831-98D9-191A-2CEFBCA37002}"/>
              </a:ext>
            </a:extLst>
          </p:cNvPr>
          <p:cNvSpPr/>
          <p:nvPr/>
        </p:nvSpPr>
        <p:spPr>
          <a:xfrm>
            <a:off x="7589394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8" name="Shape 64">
            <a:extLst>
              <a:ext uri="{FF2B5EF4-FFF2-40B4-BE49-F238E27FC236}">
                <a16:creationId xmlns:a16="http://schemas.microsoft.com/office/drawing/2014/main" id="{4B2C7409-067E-A0E9-F034-6DD002B4F423}"/>
              </a:ext>
            </a:extLst>
          </p:cNvPr>
          <p:cNvSpPr/>
          <p:nvPr/>
        </p:nvSpPr>
        <p:spPr>
          <a:xfrm>
            <a:off x="8119746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65">
            <a:extLst>
              <a:ext uri="{FF2B5EF4-FFF2-40B4-BE49-F238E27FC236}">
                <a16:creationId xmlns:a16="http://schemas.microsoft.com/office/drawing/2014/main" id="{C7AB2D8E-8A4A-9D53-78F5-B2E0E02E32AA}"/>
              </a:ext>
            </a:extLst>
          </p:cNvPr>
          <p:cNvSpPr/>
          <p:nvPr/>
        </p:nvSpPr>
        <p:spPr>
          <a:xfrm>
            <a:off x="8650098" y="4596611"/>
            <a:ext cx="32004" cy="32004"/>
          </a:xfrm>
          <a:prstGeom prst="ellipse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79">
            <a:extLst>
              <a:ext uri="{FF2B5EF4-FFF2-40B4-BE49-F238E27FC236}">
                <a16:creationId xmlns:a16="http://schemas.microsoft.com/office/drawing/2014/main" id="{0A450796-CA5F-424D-EA06-D9BE4A0E7F06}"/>
              </a:ext>
            </a:extLst>
          </p:cNvPr>
          <p:cNvSpPr/>
          <p:nvPr/>
        </p:nvSpPr>
        <p:spPr>
          <a:xfrm>
            <a:off x="4891914" y="1282054"/>
            <a:ext cx="411480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Shape 80">
            <a:extLst>
              <a:ext uri="{FF2B5EF4-FFF2-40B4-BE49-F238E27FC236}">
                <a16:creationId xmlns:a16="http://schemas.microsoft.com/office/drawing/2014/main" id="{2DCC5E9B-709E-48E9-F71D-09F26CF16FEB}"/>
              </a:ext>
            </a:extLst>
          </p:cNvPr>
          <p:cNvSpPr/>
          <p:nvPr/>
        </p:nvSpPr>
        <p:spPr>
          <a:xfrm>
            <a:off x="4891914" y="1282054"/>
            <a:ext cx="4114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Text 81">
            <a:extLst>
              <a:ext uri="{FF2B5EF4-FFF2-40B4-BE49-F238E27FC236}">
                <a16:creationId xmlns:a16="http://schemas.microsoft.com/office/drawing/2014/main" id="{9CAB2FCE-0F72-D6A0-7B32-BC06459C6A4D}"/>
              </a:ext>
            </a:extLst>
          </p:cNvPr>
          <p:cNvSpPr/>
          <p:nvPr/>
        </p:nvSpPr>
        <p:spPr>
          <a:xfrm>
            <a:off x="5074794" y="134606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1</a:t>
            </a:r>
            <a:endParaRPr lang="en-US" sz="750" dirty="0"/>
          </a:p>
        </p:txBody>
      </p:sp>
      <p:sp>
        <p:nvSpPr>
          <p:cNvPr id="243" name="Text 82">
            <a:extLst>
              <a:ext uri="{FF2B5EF4-FFF2-40B4-BE49-F238E27FC236}">
                <a16:creationId xmlns:a16="http://schemas.microsoft.com/office/drawing/2014/main" id="{2BA88C11-9D92-270E-3531-270440751D1D}"/>
              </a:ext>
            </a:extLst>
          </p:cNvPr>
          <p:cNvSpPr/>
          <p:nvPr/>
        </p:nvSpPr>
        <p:spPr>
          <a:xfrm>
            <a:off x="5074794" y="161123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 Dashboard</a:t>
            </a:r>
            <a:endParaRPr lang="en-US" sz="1500" dirty="0"/>
          </a:p>
        </p:txBody>
      </p:sp>
      <p:sp>
        <p:nvSpPr>
          <p:cNvPr id="244" name="Shape 83">
            <a:extLst>
              <a:ext uri="{FF2B5EF4-FFF2-40B4-BE49-F238E27FC236}">
                <a16:creationId xmlns:a16="http://schemas.microsoft.com/office/drawing/2014/main" id="{0512D9B0-50CA-BF29-65CF-2CBE6479802D}"/>
              </a:ext>
            </a:extLst>
          </p:cNvPr>
          <p:cNvSpPr/>
          <p:nvPr/>
        </p:nvSpPr>
        <p:spPr>
          <a:xfrm>
            <a:off x="4891914" y="2219515"/>
            <a:ext cx="411480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hape 84">
            <a:extLst>
              <a:ext uri="{FF2B5EF4-FFF2-40B4-BE49-F238E27FC236}">
                <a16:creationId xmlns:a16="http://schemas.microsoft.com/office/drawing/2014/main" id="{04A39A93-F1A7-A013-BCD3-1DE4CEB16B26}"/>
              </a:ext>
            </a:extLst>
          </p:cNvPr>
          <p:cNvSpPr/>
          <p:nvPr/>
        </p:nvSpPr>
        <p:spPr>
          <a:xfrm>
            <a:off x="4891914" y="2219515"/>
            <a:ext cx="41148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Text 85">
            <a:extLst>
              <a:ext uri="{FF2B5EF4-FFF2-40B4-BE49-F238E27FC236}">
                <a16:creationId xmlns:a16="http://schemas.microsoft.com/office/drawing/2014/main" id="{F4C9070D-246B-D7E6-1BF5-A4E7BC2794F3}"/>
              </a:ext>
            </a:extLst>
          </p:cNvPr>
          <p:cNvSpPr/>
          <p:nvPr/>
        </p:nvSpPr>
        <p:spPr>
          <a:xfrm>
            <a:off x="5074794" y="2283523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2</a:t>
            </a:r>
            <a:endParaRPr lang="en-US" sz="750" dirty="0"/>
          </a:p>
        </p:txBody>
      </p:sp>
      <p:sp>
        <p:nvSpPr>
          <p:cNvPr id="247" name="Text 86">
            <a:extLst>
              <a:ext uri="{FF2B5EF4-FFF2-40B4-BE49-F238E27FC236}">
                <a16:creationId xmlns:a16="http://schemas.microsoft.com/office/drawing/2014/main" id="{A779209F-2C62-6B05-BA46-FE8F3A6B435F}"/>
              </a:ext>
            </a:extLst>
          </p:cNvPr>
          <p:cNvSpPr/>
          <p:nvPr/>
        </p:nvSpPr>
        <p:spPr>
          <a:xfrm>
            <a:off x="5074794" y="2548699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 Campus Map</a:t>
            </a:r>
            <a:endParaRPr lang="en-US" sz="1500" dirty="0"/>
          </a:p>
        </p:txBody>
      </p:sp>
      <p:sp>
        <p:nvSpPr>
          <p:cNvPr id="248" name="Shape 87">
            <a:extLst>
              <a:ext uri="{FF2B5EF4-FFF2-40B4-BE49-F238E27FC236}">
                <a16:creationId xmlns:a16="http://schemas.microsoft.com/office/drawing/2014/main" id="{2C642B64-35CD-D0D4-AF1A-5197E996A020}"/>
              </a:ext>
            </a:extLst>
          </p:cNvPr>
          <p:cNvSpPr/>
          <p:nvPr/>
        </p:nvSpPr>
        <p:spPr>
          <a:xfrm>
            <a:off x="4891914" y="3165919"/>
            <a:ext cx="411480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88">
            <a:extLst>
              <a:ext uri="{FF2B5EF4-FFF2-40B4-BE49-F238E27FC236}">
                <a16:creationId xmlns:a16="http://schemas.microsoft.com/office/drawing/2014/main" id="{B6E02515-7DD9-48DC-2640-50E9239D48E4}"/>
              </a:ext>
            </a:extLst>
          </p:cNvPr>
          <p:cNvSpPr/>
          <p:nvPr/>
        </p:nvSpPr>
        <p:spPr>
          <a:xfrm>
            <a:off x="4891914" y="3165919"/>
            <a:ext cx="4114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0" name="Text 89">
            <a:extLst>
              <a:ext uri="{FF2B5EF4-FFF2-40B4-BE49-F238E27FC236}">
                <a16:creationId xmlns:a16="http://schemas.microsoft.com/office/drawing/2014/main" id="{8F4B8472-CC9D-C50E-9FD9-DDA7D8260824}"/>
              </a:ext>
            </a:extLst>
          </p:cNvPr>
          <p:cNvSpPr/>
          <p:nvPr/>
        </p:nvSpPr>
        <p:spPr>
          <a:xfrm>
            <a:off x="5074794" y="3229927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3</a:t>
            </a:r>
            <a:endParaRPr lang="en-US" sz="750" dirty="0"/>
          </a:p>
        </p:txBody>
      </p:sp>
      <p:sp>
        <p:nvSpPr>
          <p:cNvPr id="251" name="Text 90">
            <a:extLst>
              <a:ext uri="{FF2B5EF4-FFF2-40B4-BE49-F238E27FC236}">
                <a16:creationId xmlns:a16="http://schemas.microsoft.com/office/drawing/2014/main" id="{A1B10BEC-5B0E-FE0D-6DA3-AA24E7D37029}"/>
              </a:ext>
            </a:extLst>
          </p:cNvPr>
          <p:cNvSpPr/>
          <p:nvPr/>
        </p:nvSpPr>
        <p:spPr>
          <a:xfrm>
            <a:off x="5074794" y="3495103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Alerts Management</a:t>
            </a:r>
            <a:endParaRPr lang="en-US" sz="1500" dirty="0"/>
          </a:p>
        </p:txBody>
      </p:sp>
      <p:sp>
        <p:nvSpPr>
          <p:cNvPr id="252" name="Shape 91">
            <a:extLst>
              <a:ext uri="{FF2B5EF4-FFF2-40B4-BE49-F238E27FC236}">
                <a16:creationId xmlns:a16="http://schemas.microsoft.com/office/drawing/2014/main" id="{B910A880-6E72-1428-6A8B-C0D612C64B6F}"/>
              </a:ext>
            </a:extLst>
          </p:cNvPr>
          <p:cNvSpPr/>
          <p:nvPr/>
        </p:nvSpPr>
        <p:spPr>
          <a:xfrm>
            <a:off x="4891914" y="4111979"/>
            <a:ext cx="411480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hape 92">
            <a:extLst>
              <a:ext uri="{FF2B5EF4-FFF2-40B4-BE49-F238E27FC236}">
                <a16:creationId xmlns:a16="http://schemas.microsoft.com/office/drawing/2014/main" id="{DA31EA29-841D-9FF6-6CCF-030648C1BBF7}"/>
              </a:ext>
            </a:extLst>
          </p:cNvPr>
          <p:cNvSpPr/>
          <p:nvPr/>
        </p:nvSpPr>
        <p:spPr>
          <a:xfrm>
            <a:off x="4891914" y="4111979"/>
            <a:ext cx="4114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4" name="Text 93">
            <a:extLst>
              <a:ext uri="{FF2B5EF4-FFF2-40B4-BE49-F238E27FC236}">
                <a16:creationId xmlns:a16="http://schemas.microsoft.com/office/drawing/2014/main" id="{BA5C0D5B-004D-3D1F-176A-B97FC59FCD58}"/>
              </a:ext>
            </a:extLst>
          </p:cNvPr>
          <p:cNvSpPr/>
          <p:nvPr/>
        </p:nvSpPr>
        <p:spPr>
          <a:xfrm>
            <a:off x="5074794" y="4175987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4</a:t>
            </a:r>
            <a:endParaRPr lang="en-US" sz="750" dirty="0"/>
          </a:p>
        </p:txBody>
      </p:sp>
      <p:sp>
        <p:nvSpPr>
          <p:cNvPr id="255" name="Text 94">
            <a:extLst>
              <a:ext uri="{FF2B5EF4-FFF2-40B4-BE49-F238E27FC236}">
                <a16:creationId xmlns:a16="http://schemas.microsoft.com/office/drawing/2014/main" id="{43C2F5C5-975A-5BA5-87E7-EF9AA44B2591}"/>
              </a:ext>
            </a:extLst>
          </p:cNvPr>
          <p:cNvSpPr/>
          <p:nvPr/>
        </p:nvSpPr>
        <p:spPr>
          <a:xfrm>
            <a:off x="5074794" y="4441163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Energy Chatbot</a:t>
            </a:r>
            <a:endParaRPr lang="en-US" sz="1500" dirty="0"/>
          </a:p>
        </p:txBody>
      </p:sp>
      <p:sp>
        <p:nvSpPr>
          <p:cNvPr id="256" name="Shape 11">
            <a:extLst>
              <a:ext uri="{FF2B5EF4-FFF2-40B4-BE49-F238E27FC236}">
                <a16:creationId xmlns:a16="http://schemas.microsoft.com/office/drawing/2014/main" id="{588701E9-94E0-7FCB-94BB-ADBF06184252}"/>
              </a:ext>
            </a:extLst>
          </p:cNvPr>
          <p:cNvSpPr/>
          <p:nvPr/>
        </p:nvSpPr>
        <p:spPr>
          <a:xfrm>
            <a:off x="4626864" y="1398225"/>
            <a:ext cx="73152" cy="3745274"/>
          </a:xfrm>
          <a:prstGeom prst="rect">
            <a:avLst/>
          </a:prstGeom>
          <a:solidFill>
            <a:srgbClr val="E04412"/>
          </a:solidFill>
          <a:ln w="12700">
            <a:noFill/>
            <a:prstDash val="solid"/>
          </a:ln>
        </p:spPr>
      </p:sp>
      <p:sp>
        <p:nvSpPr>
          <p:cNvPr id="258" name="Shape 76">
            <a:extLst>
              <a:ext uri="{FF2B5EF4-FFF2-40B4-BE49-F238E27FC236}">
                <a16:creationId xmlns:a16="http://schemas.microsoft.com/office/drawing/2014/main" id="{41158D44-2B67-7531-9CC5-0268E1405252}"/>
              </a:ext>
            </a:extLst>
          </p:cNvPr>
          <p:cNvSpPr/>
          <p:nvPr/>
        </p:nvSpPr>
        <p:spPr>
          <a:xfrm>
            <a:off x="473202" y="1518448"/>
            <a:ext cx="36576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9" name="Text 77">
            <a:extLst>
              <a:ext uri="{FF2B5EF4-FFF2-40B4-BE49-F238E27FC236}">
                <a16:creationId xmlns:a16="http://schemas.microsoft.com/office/drawing/2014/main" id="{1415544B-EF49-2B33-4565-13AB4073721C}"/>
              </a:ext>
            </a:extLst>
          </p:cNvPr>
          <p:cNvSpPr/>
          <p:nvPr/>
        </p:nvSpPr>
        <p:spPr>
          <a:xfrm>
            <a:off x="637794" y="154588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Screens
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Tabs</a:t>
            </a: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Single-File Platform</a:t>
            </a:r>
            <a:endParaRPr lang="en-US" sz="1400" dirty="0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3F90375D-8CF9-5D8E-A06F-D278647EAA73}"/>
              </a:ext>
            </a:extLst>
          </p:cNvPr>
          <p:cNvSpPr txBox="1"/>
          <p:nvPr/>
        </p:nvSpPr>
        <p:spPr>
          <a:xfrm>
            <a:off x="431928" y="3218603"/>
            <a:ext cx="39616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dirty="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Full working prototype available — single-file HTML application (</a:t>
            </a:r>
            <a:r>
              <a:rPr lang="en-US" altLang="en-GB" dirty="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index</a:t>
            </a:r>
            <a:r>
              <a:rPr lang="en-US" altLang="en-GB" sz="1400" dirty="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.html) with 9 tabs, Three.js 3D campus, live SVG charts, and AI chatbot.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6CF34C4-4D76-797A-6683-FBD54160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title="AMD.PS.S22.png">
            <a:extLst>
              <a:ext uri="{FF2B5EF4-FFF2-40B4-BE49-F238E27FC236}">
                <a16:creationId xmlns:a16="http://schemas.microsoft.com/office/drawing/2014/main" id="{89443454-4CF9-FB7B-F899-BE09DD73B1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>
            <a:extLst>
              <a:ext uri="{FF2B5EF4-FFF2-40B4-BE49-F238E27FC236}">
                <a16:creationId xmlns:a16="http://schemas.microsoft.com/office/drawing/2014/main" id="{BA5F6BF2-127D-9C2F-581B-C021476D4D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Shape 11">
            <a:extLst>
              <a:ext uri="{FF2B5EF4-FFF2-40B4-BE49-F238E27FC236}">
                <a16:creationId xmlns:a16="http://schemas.microsoft.com/office/drawing/2014/main" id="{7C244557-CB5F-59DD-0A7E-058DF903A606}"/>
              </a:ext>
            </a:extLst>
          </p:cNvPr>
          <p:cNvSpPr/>
          <p:nvPr/>
        </p:nvSpPr>
        <p:spPr>
          <a:xfrm>
            <a:off x="4529328" y="561524"/>
            <a:ext cx="45719" cy="4581975"/>
          </a:xfrm>
          <a:prstGeom prst="rect">
            <a:avLst/>
          </a:prstGeom>
          <a:solidFill>
            <a:srgbClr val="E04412"/>
          </a:solidFill>
          <a:ln w="12700">
            <a:solidFill>
              <a:srgbClr val="DD3F0F"/>
            </a:solidFill>
            <a:prstDash val="solid"/>
          </a:ln>
        </p:spPr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B73B0BA5-E598-CE85-3033-17EB50F310F3}"/>
              </a:ext>
            </a:extLst>
          </p:cNvPr>
          <p:cNvSpPr/>
          <p:nvPr/>
        </p:nvSpPr>
        <p:spPr>
          <a:xfrm rot="16200000">
            <a:off x="4549139" y="-1805281"/>
            <a:ext cx="45719" cy="9144000"/>
          </a:xfrm>
          <a:prstGeom prst="rect">
            <a:avLst/>
          </a:prstGeom>
          <a:solidFill>
            <a:srgbClr val="E04412"/>
          </a:solidFill>
          <a:ln w="12700">
            <a:solidFill>
              <a:srgbClr val="DD3F0F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4507A-2379-9721-6EB3-DF236EDDE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1524"/>
            <a:ext cx="4529328" cy="218233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354809-A04A-47B4-4DD0-202024276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59" y="561524"/>
            <a:ext cx="4549140" cy="218233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31DD48-09AC-7DE4-5FD3-F2890C6B9C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789579"/>
            <a:ext cx="4529328" cy="231196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6B5D62-5E18-6BD2-9278-C57B8835E2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859" y="2792307"/>
            <a:ext cx="4549141" cy="230923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0606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FD9F2BC8-EE17-C8F1-707E-4AD4F4192839}"/>
              </a:ext>
            </a:extLst>
          </p:cNvPr>
          <p:cNvSpPr/>
          <p:nvPr/>
        </p:nvSpPr>
        <p:spPr>
          <a:xfrm>
            <a:off x="457200" y="3951080"/>
            <a:ext cx="2011680" cy="685800"/>
          </a:xfrm>
          <a:prstGeom prst="rect">
            <a:avLst/>
          </a:prstGeom>
          <a:solidFill>
            <a:schemeClr val="tx1"/>
          </a:solidFill>
          <a:ln w="19050">
            <a:solidFill>
              <a:srgbClr val="6AD893"/>
            </a:solidFill>
            <a:prstDash val="solid"/>
          </a:ln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FE1AEAAA-A82E-EAA0-5AF5-3603C0F12D26}"/>
              </a:ext>
            </a:extLst>
          </p:cNvPr>
          <p:cNvSpPr/>
          <p:nvPr/>
        </p:nvSpPr>
        <p:spPr>
          <a:xfrm>
            <a:off x="457200" y="3085228"/>
            <a:ext cx="2011680" cy="685800"/>
          </a:xfrm>
          <a:prstGeom prst="rect">
            <a:avLst/>
          </a:prstGeom>
          <a:solidFill>
            <a:schemeClr val="tx1"/>
          </a:solidFill>
          <a:ln w="19050">
            <a:solidFill>
              <a:srgbClr val="FDD56C"/>
            </a:solidFill>
            <a:prstDash val="solid"/>
          </a:ln>
        </p:spPr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92F8A6A-9B52-9C23-72AF-21610D0713E6}"/>
              </a:ext>
            </a:extLst>
          </p:cNvPr>
          <p:cNvSpPr/>
          <p:nvPr/>
        </p:nvSpPr>
        <p:spPr>
          <a:xfrm>
            <a:off x="457200" y="2216548"/>
            <a:ext cx="2011680" cy="685800"/>
          </a:xfrm>
          <a:prstGeom prst="rect">
            <a:avLst/>
          </a:prstGeom>
          <a:solidFill>
            <a:schemeClr val="tx1"/>
          </a:solidFill>
          <a:ln w="19050">
            <a:solidFill>
              <a:srgbClr val="FBA163"/>
            </a:solidFill>
            <a:prstDash val="solid"/>
          </a:ln>
        </p:spPr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1C9BABF-66FB-CB8E-AC16-33F47679FE39}"/>
              </a:ext>
            </a:extLst>
          </p:cNvPr>
          <p:cNvSpPr/>
          <p:nvPr/>
        </p:nvSpPr>
        <p:spPr>
          <a:xfrm>
            <a:off x="457200" y="6620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tx1"/>
                </a:solidFill>
              </a:rPr>
              <a:t>ARCHITECTURE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7C85FF4F-C2EA-6630-80FB-0B0C9730A517}"/>
              </a:ext>
            </a:extLst>
          </p:cNvPr>
          <p:cNvSpPr/>
          <p:nvPr/>
        </p:nvSpPr>
        <p:spPr>
          <a:xfrm>
            <a:off x="457200" y="1192420"/>
            <a:ext cx="10515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DFBBA8B-4BE8-2AC1-2CE9-EF588946D114}"/>
              </a:ext>
            </a:extLst>
          </p:cNvPr>
          <p:cNvSpPr/>
          <p:nvPr/>
        </p:nvSpPr>
        <p:spPr>
          <a:xfrm>
            <a:off x="2468880" y="1347868"/>
            <a:ext cx="6263640" cy="685800"/>
          </a:xfrm>
          <a:prstGeom prst="rect">
            <a:avLst/>
          </a:prstGeom>
          <a:solidFill>
            <a:srgbClr val="111827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49BB44F-69EF-D671-0083-70344398BF33}"/>
              </a:ext>
            </a:extLst>
          </p:cNvPr>
          <p:cNvSpPr/>
          <p:nvPr/>
        </p:nvSpPr>
        <p:spPr>
          <a:xfrm>
            <a:off x="457200" y="1347868"/>
            <a:ext cx="2011680" cy="685800"/>
          </a:xfrm>
          <a:prstGeom prst="rect">
            <a:avLst/>
          </a:prstGeom>
          <a:solidFill>
            <a:schemeClr val="tx1"/>
          </a:solidFill>
          <a:ln w="19050">
            <a:solidFill>
              <a:srgbClr val="6AE2F4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82AC454-899B-9EC2-BB8F-86D808177AED}"/>
              </a:ext>
            </a:extLst>
          </p:cNvPr>
          <p:cNvSpPr/>
          <p:nvPr/>
        </p:nvSpPr>
        <p:spPr>
          <a:xfrm>
            <a:off x="502920" y="1402732"/>
            <a:ext cx="1920240" cy="5760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AE2F4"/>
                </a:solidFill>
              </a:rPr>
              <a:t>DATA SOURCES</a:t>
            </a:r>
            <a:endParaRPr lang="en-US" sz="1100" dirty="0">
              <a:solidFill>
                <a:srgbClr val="6AE2F4"/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12ADD85-A484-5A6C-38EB-A6226E787B7E}"/>
              </a:ext>
            </a:extLst>
          </p:cNvPr>
          <p:cNvSpPr/>
          <p:nvPr/>
        </p:nvSpPr>
        <p:spPr>
          <a:xfrm>
            <a:off x="2606040" y="134786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IoT Sensors · Smart Meters · Solar Inverters · BMS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427995D-DB01-CD6F-72E1-1F95E017C43E}"/>
              </a:ext>
            </a:extLst>
          </p:cNvPr>
          <p:cNvSpPr/>
          <p:nvPr/>
        </p:nvSpPr>
        <p:spPr>
          <a:xfrm>
            <a:off x="4114800" y="19788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2E665AE-E655-DBD2-C9CA-41BAB7E4EB57}"/>
              </a:ext>
            </a:extLst>
          </p:cNvPr>
          <p:cNvSpPr/>
          <p:nvPr/>
        </p:nvSpPr>
        <p:spPr>
          <a:xfrm>
            <a:off x="2468880" y="2216548"/>
            <a:ext cx="6217920" cy="68580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1DB964D-50A7-B0F9-2B1D-68474DB1580D}"/>
              </a:ext>
            </a:extLst>
          </p:cNvPr>
          <p:cNvSpPr/>
          <p:nvPr/>
        </p:nvSpPr>
        <p:spPr>
          <a:xfrm>
            <a:off x="502920" y="2271412"/>
            <a:ext cx="1920240" cy="574676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BA163"/>
                </a:solidFill>
              </a:rPr>
              <a:t>INGESTION LAYER</a:t>
            </a:r>
            <a:endParaRPr lang="en-US" sz="1100" dirty="0">
              <a:solidFill>
                <a:srgbClr val="FBA163"/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AFB34DE-885C-DB37-C388-4E69FF84DD9A}"/>
              </a:ext>
            </a:extLst>
          </p:cNvPr>
          <p:cNvSpPr/>
          <p:nvPr/>
        </p:nvSpPr>
        <p:spPr>
          <a:xfrm>
            <a:off x="2606040" y="221654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Real-time Stream · Data Parser · Normalization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252F8CA-A617-65D5-7E3C-6493B02E1C18}"/>
              </a:ext>
            </a:extLst>
          </p:cNvPr>
          <p:cNvSpPr/>
          <p:nvPr/>
        </p:nvSpPr>
        <p:spPr>
          <a:xfrm>
            <a:off x="4114800" y="28460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18EAF6D3-A90B-742D-ACFC-ADA5842D9A76}"/>
              </a:ext>
            </a:extLst>
          </p:cNvPr>
          <p:cNvSpPr/>
          <p:nvPr/>
        </p:nvSpPr>
        <p:spPr>
          <a:xfrm>
            <a:off x="2468880" y="3085228"/>
            <a:ext cx="6217920" cy="6858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E53C7687-D7D2-4C0E-9AAC-3A23C9A432B9}"/>
              </a:ext>
            </a:extLst>
          </p:cNvPr>
          <p:cNvSpPr/>
          <p:nvPr/>
        </p:nvSpPr>
        <p:spPr>
          <a:xfrm>
            <a:off x="502920" y="3138696"/>
            <a:ext cx="1920240" cy="574676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DD56C"/>
                </a:solidFill>
              </a:rPr>
              <a:t>INTELLIGENCE</a:t>
            </a:r>
            <a:endParaRPr lang="en-US" sz="1100" dirty="0">
              <a:solidFill>
                <a:srgbClr val="FDD56C"/>
              </a:solidFill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24DC218-58E4-4B8D-99B3-B89EF451EA99}"/>
              </a:ext>
            </a:extLst>
          </p:cNvPr>
          <p:cNvSpPr/>
          <p:nvPr/>
        </p:nvSpPr>
        <p:spPr>
          <a:xfrm>
            <a:off x="2606040" y="308522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AI/ML Models · Anomaly Detection · Demand Forecasting</a:t>
            </a: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F025A43-002A-96F1-2E07-FD83F95EE762}"/>
              </a:ext>
            </a:extLst>
          </p:cNvPr>
          <p:cNvSpPr/>
          <p:nvPr/>
        </p:nvSpPr>
        <p:spPr>
          <a:xfrm>
            <a:off x="4114800" y="37133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D3C598C2-3F41-5E35-B598-AAD6E982B9CB}"/>
              </a:ext>
            </a:extLst>
          </p:cNvPr>
          <p:cNvSpPr/>
          <p:nvPr/>
        </p:nvSpPr>
        <p:spPr>
          <a:xfrm>
            <a:off x="2468880" y="3953908"/>
            <a:ext cx="6217920" cy="685800"/>
          </a:xfrm>
          <a:prstGeom prst="rect">
            <a:avLst/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418C742F-BD61-CEFD-92CC-B893B693076F}"/>
              </a:ext>
            </a:extLst>
          </p:cNvPr>
          <p:cNvSpPr/>
          <p:nvPr/>
        </p:nvSpPr>
        <p:spPr>
          <a:xfrm>
            <a:off x="502920" y="4005980"/>
            <a:ext cx="1920240" cy="559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AD893"/>
                </a:solidFill>
              </a:rPr>
              <a:t>PRESENTATION</a:t>
            </a:r>
            <a:endParaRPr lang="en-US" sz="1100" dirty="0">
              <a:solidFill>
                <a:srgbClr val="6AD893"/>
              </a:solidFill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F24193E2-A427-3C2A-0FB8-FF5E8D93B73D}"/>
              </a:ext>
            </a:extLst>
          </p:cNvPr>
          <p:cNvSpPr/>
          <p:nvPr/>
        </p:nvSpPr>
        <p:spPr>
          <a:xfrm>
            <a:off x="2606040" y="395390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WebGL Dashboard · Alert Engine · AI Chatbot ·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64181CE9-7DC6-0981-E9A0-1DC6DB04CF62}"/>
              </a:ext>
            </a:extLst>
          </p:cNvPr>
          <p:cNvSpPr/>
          <p:nvPr/>
        </p:nvSpPr>
        <p:spPr>
          <a:xfrm>
            <a:off x="457200" y="63012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tx1"/>
                </a:solidFill>
              </a:rPr>
              <a:t>TECH</a:t>
            </a:r>
            <a:r>
              <a:rPr lang="en-US" sz="3600" b="1" kern="0" spc="300" dirty="0">
                <a:solidFill>
                  <a:srgbClr val="F9FAFB"/>
                </a:solidFill>
              </a:rPr>
              <a:t> </a:t>
            </a:r>
            <a:r>
              <a:rPr lang="en-US" sz="3600" b="1" kern="0" spc="300" dirty="0">
                <a:solidFill>
                  <a:schemeClr val="tx1"/>
                </a:solidFill>
              </a:rPr>
              <a:t>STACK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10F16BDF-1F3D-D8AB-822B-6EAA351258FC}"/>
              </a:ext>
            </a:extLst>
          </p:cNvPr>
          <p:cNvSpPr/>
          <p:nvPr/>
        </p:nvSpPr>
        <p:spPr>
          <a:xfrm>
            <a:off x="457200" y="1160481"/>
            <a:ext cx="868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6D240FCA-66FE-D2C8-6F71-65CEE78883D8}"/>
              </a:ext>
            </a:extLst>
          </p:cNvPr>
          <p:cNvSpPr/>
          <p:nvPr/>
        </p:nvSpPr>
        <p:spPr>
          <a:xfrm>
            <a:off x="457200" y="1361649"/>
            <a:ext cx="402336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87DCD166-7C90-8A0E-E324-F8DE09E34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635969"/>
            <a:ext cx="502920" cy="502920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C6B98575-2E05-07FC-EA96-3161EC203676}"/>
              </a:ext>
            </a:extLst>
          </p:cNvPr>
          <p:cNvSpPr/>
          <p:nvPr/>
        </p:nvSpPr>
        <p:spPr>
          <a:xfrm>
            <a:off x="1280160" y="1471377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Frontend</a:t>
            </a:r>
            <a:endParaRPr lang="en-US" sz="14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D10837BA-42F6-4E4A-ED03-979095FB79B0}"/>
              </a:ext>
            </a:extLst>
          </p:cNvPr>
          <p:cNvSpPr/>
          <p:nvPr/>
        </p:nvSpPr>
        <p:spPr>
          <a:xfrm>
            <a:off x="1280160" y="1864569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HTML5 · CSS3 · Vanilla JS · Three.js (WebGL)</a:t>
            </a:r>
            <a:endParaRPr lang="en-US" sz="110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168E0F55-E081-267E-60AA-AA0D42991D0E}"/>
              </a:ext>
            </a:extLst>
          </p:cNvPr>
          <p:cNvSpPr/>
          <p:nvPr/>
        </p:nvSpPr>
        <p:spPr>
          <a:xfrm>
            <a:off x="4800600" y="1361649"/>
            <a:ext cx="402336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32D3EA3C-206F-85AD-3065-C6476F655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635969"/>
            <a:ext cx="502920" cy="502920"/>
          </a:xfrm>
          <a:prstGeom prst="rect">
            <a:avLst/>
          </a:prstGeom>
        </p:spPr>
      </p:pic>
      <p:sp>
        <p:nvSpPr>
          <p:cNvPr id="40" name="Text 6">
            <a:extLst>
              <a:ext uri="{FF2B5EF4-FFF2-40B4-BE49-F238E27FC236}">
                <a16:creationId xmlns:a16="http://schemas.microsoft.com/office/drawing/2014/main" id="{B0950640-B954-0530-B96B-296F6F03F210}"/>
              </a:ext>
            </a:extLst>
          </p:cNvPr>
          <p:cNvSpPr/>
          <p:nvPr/>
        </p:nvSpPr>
        <p:spPr>
          <a:xfrm>
            <a:off x="5623560" y="1471377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Visualisation</a:t>
            </a:r>
            <a:endParaRPr lang="en-US" sz="14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E4EC7AA0-41E8-37B4-7CAA-6A8B5E732CCF}"/>
              </a:ext>
            </a:extLst>
          </p:cNvPr>
          <p:cNvSpPr/>
          <p:nvPr/>
        </p:nvSpPr>
        <p:spPr>
          <a:xfrm>
            <a:off x="5623560" y="1864569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Canvas API · Chart.js · CSS Animations</a:t>
            </a:r>
            <a:endParaRPr lang="en-US" sz="1100" dirty="0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32FC6D71-D8A7-258E-9ECC-9639A1EE28CB}"/>
              </a:ext>
            </a:extLst>
          </p:cNvPr>
          <p:cNvSpPr/>
          <p:nvPr/>
        </p:nvSpPr>
        <p:spPr>
          <a:xfrm>
            <a:off x="457200" y="2609780"/>
            <a:ext cx="402336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484BF10F-C655-CFCC-6369-1186445543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884100"/>
            <a:ext cx="502920" cy="502920"/>
          </a:xfrm>
          <a:prstGeom prst="rect">
            <a:avLst/>
          </a:prstGeom>
        </p:spPr>
      </p:pic>
      <p:sp>
        <p:nvSpPr>
          <p:cNvPr id="44" name="Text 9">
            <a:extLst>
              <a:ext uri="{FF2B5EF4-FFF2-40B4-BE49-F238E27FC236}">
                <a16:creationId xmlns:a16="http://schemas.microsoft.com/office/drawing/2014/main" id="{3B0EF4F2-B5BF-9DED-A928-16FE8324D1AF}"/>
              </a:ext>
            </a:extLst>
          </p:cNvPr>
          <p:cNvSpPr/>
          <p:nvPr/>
        </p:nvSpPr>
        <p:spPr>
          <a:xfrm>
            <a:off x="1280160" y="27195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AI / ML</a:t>
            </a:r>
            <a:endParaRPr lang="en-US" sz="14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42EC2D30-1434-F337-4628-FF380F59D98F}"/>
              </a:ext>
            </a:extLst>
          </p:cNvPr>
          <p:cNvSpPr/>
          <p:nvPr/>
        </p:nvSpPr>
        <p:spPr>
          <a:xfrm>
            <a:off x="1280160" y="31127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Bell-curve demand modelling · ONNX Runtime · Anthropic Claude API (chatbot)</a:t>
            </a:r>
            <a:endParaRPr lang="en-US" sz="11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BEB7FB93-BE52-8F61-158E-3C8FF8F6AB57}"/>
              </a:ext>
            </a:extLst>
          </p:cNvPr>
          <p:cNvSpPr/>
          <p:nvPr/>
        </p:nvSpPr>
        <p:spPr>
          <a:xfrm>
            <a:off x="4800600" y="2609780"/>
            <a:ext cx="402336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7" name="Image 3" descr="preencoded.png">
            <a:extLst>
              <a:ext uri="{FF2B5EF4-FFF2-40B4-BE49-F238E27FC236}">
                <a16:creationId xmlns:a16="http://schemas.microsoft.com/office/drawing/2014/main" id="{5B632C4B-6FB2-7108-E392-7FC1CFD543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884100"/>
            <a:ext cx="502920" cy="502920"/>
          </a:xfrm>
          <a:prstGeom prst="rect">
            <a:avLst/>
          </a:prstGeom>
        </p:spPr>
      </p:pic>
      <p:sp>
        <p:nvSpPr>
          <p:cNvPr id="48" name="Text 12">
            <a:extLst>
              <a:ext uri="{FF2B5EF4-FFF2-40B4-BE49-F238E27FC236}">
                <a16:creationId xmlns:a16="http://schemas.microsoft.com/office/drawing/2014/main" id="{11AFBCE4-DFF3-C685-76FE-07ACFB198A40}"/>
              </a:ext>
            </a:extLst>
          </p:cNvPr>
          <p:cNvSpPr/>
          <p:nvPr/>
        </p:nvSpPr>
        <p:spPr>
          <a:xfrm>
            <a:off x="5623560" y="27195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AMD Products</a:t>
            </a:r>
            <a:endParaRPr lang="en-US" sz="14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C2DF9ECC-E3C5-479B-73C9-21317C8F4B83}"/>
              </a:ext>
            </a:extLst>
          </p:cNvPr>
          <p:cNvSpPr/>
          <p:nvPr/>
        </p:nvSpPr>
        <p:spPr>
          <a:xfrm>
            <a:off x="5623560" y="31127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AMD Ryzen AI PC · Radeon GPU (DirectML) · NPU (VitisAI / ONNX Runtime)</a:t>
            </a:r>
            <a:endParaRPr lang="en-US" sz="110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16BB4B26-0322-DA62-D423-C80DFF94C2A1}"/>
              </a:ext>
            </a:extLst>
          </p:cNvPr>
          <p:cNvSpPr/>
          <p:nvPr/>
        </p:nvSpPr>
        <p:spPr>
          <a:xfrm>
            <a:off x="457200" y="3857911"/>
            <a:ext cx="402336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B923C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1" name="Image 4" descr="preencoded.png">
            <a:extLst>
              <a:ext uri="{FF2B5EF4-FFF2-40B4-BE49-F238E27FC236}">
                <a16:creationId xmlns:a16="http://schemas.microsoft.com/office/drawing/2014/main" id="{58768BBC-5B2A-970B-2E84-399CED2B78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132231"/>
            <a:ext cx="502920" cy="502920"/>
          </a:xfrm>
          <a:prstGeom prst="rect">
            <a:avLst/>
          </a:prstGeom>
        </p:spPr>
      </p:pic>
      <p:sp>
        <p:nvSpPr>
          <p:cNvPr id="52" name="Text 15">
            <a:extLst>
              <a:ext uri="{FF2B5EF4-FFF2-40B4-BE49-F238E27FC236}">
                <a16:creationId xmlns:a16="http://schemas.microsoft.com/office/drawing/2014/main" id="{28D6966E-A19E-B122-ACE9-8F2CD5A19F24}"/>
              </a:ext>
            </a:extLst>
          </p:cNvPr>
          <p:cNvSpPr/>
          <p:nvPr/>
        </p:nvSpPr>
        <p:spPr>
          <a:xfrm>
            <a:off x="1280160" y="3967639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FA89C85C-29A2-D695-7758-0F7ED1B0E45A}"/>
              </a:ext>
            </a:extLst>
          </p:cNvPr>
          <p:cNvSpPr/>
          <p:nvPr/>
        </p:nvSpPr>
        <p:spPr>
          <a:xfrm>
            <a:off x="1280160" y="4360831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Python 3 · CustomTkinter · http.server (local) · Offline-first, zero cloud</a:t>
            </a:r>
            <a:endParaRPr lang="en-US" sz="1100" dirty="0"/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15DDA02C-5A58-5A04-BB5E-592598B8D6D7}"/>
              </a:ext>
            </a:extLst>
          </p:cNvPr>
          <p:cNvSpPr/>
          <p:nvPr/>
        </p:nvSpPr>
        <p:spPr>
          <a:xfrm>
            <a:off x="4800600" y="3857911"/>
            <a:ext cx="402336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5" name="Image 5" descr="preencoded.png">
            <a:extLst>
              <a:ext uri="{FF2B5EF4-FFF2-40B4-BE49-F238E27FC236}">
                <a16:creationId xmlns:a16="http://schemas.microsoft.com/office/drawing/2014/main" id="{414D67F1-2C59-FE22-CFB7-C90082042D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4132231"/>
            <a:ext cx="502920" cy="502920"/>
          </a:xfrm>
          <a:prstGeom prst="rect">
            <a:avLst/>
          </a:prstGeom>
        </p:spPr>
      </p:pic>
      <p:sp>
        <p:nvSpPr>
          <p:cNvPr id="56" name="Text 18">
            <a:extLst>
              <a:ext uri="{FF2B5EF4-FFF2-40B4-BE49-F238E27FC236}">
                <a16:creationId xmlns:a16="http://schemas.microsoft.com/office/drawing/2014/main" id="{591E7FEA-EBB1-D361-A05D-B1B34E1F8AE4}"/>
              </a:ext>
            </a:extLst>
          </p:cNvPr>
          <p:cNvSpPr/>
          <p:nvPr/>
        </p:nvSpPr>
        <p:spPr>
          <a:xfrm>
            <a:off x="5623560" y="3967639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Data Layer</a:t>
            </a:r>
            <a:endParaRPr lang="en-US" sz="1400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718CE1D3-707B-0394-D3C0-896CE69E82C4}"/>
              </a:ext>
            </a:extLst>
          </p:cNvPr>
          <p:cNvSpPr/>
          <p:nvPr/>
        </p:nvSpPr>
        <p:spPr>
          <a:xfrm>
            <a:off x="5623560" y="4360831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Local JSON · SQLite · ReportLab (PDF) · 5-second live refresh cycle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BE6699BD-0496-515C-4D8A-70489C7EEAFA}"/>
              </a:ext>
            </a:extLst>
          </p:cNvPr>
          <p:cNvSpPr/>
          <p:nvPr/>
        </p:nvSpPr>
        <p:spPr>
          <a:xfrm>
            <a:off x="457200" y="6756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tx1"/>
                </a:solidFill>
              </a:rPr>
              <a:t>AMD</a:t>
            </a:r>
            <a:r>
              <a:rPr lang="en-US" sz="3600" b="1" kern="0" spc="300" dirty="0">
                <a:solidFill>
                  <a:srgbClr val="F9FAFB"/>
                </a:solidFill>
              </a:rPr>
              <a:t> </a:t>
            </a:r>
            <a:r>
              <a:rPr lang="en-US" sz="3600" b="1" kern="0" spc="300" dirty="0">
                <a:solidFill>
                  <a:schemeClr val="tx1"/>
                </a:solidFill>
              </a:rPr>
              <a:t>INTEGRATION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094106A-EEE8-18D3-0628-56F58DDC8994}"/>
              </a:ext>
            </a:extLst>
          </p:cNvPr>
          <p:cNvSpPr/>
          <p:nvPr/>
        </p:nvSpPr>
        <p:spPr>
          <a:xfrm>
            <a:off x="457200" y="1151337"/>
            <a:ext cx="13716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09D4DE7-3AE9-F82D-0B48-F135E0E2B21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6126480" y="1352896"/>
            <a:ext cx="2560320" cy="256032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41738EB4-B41E-D4DA-D9B7-70248A57E732}"/>
              </a:ext>
            </a:extLst>
          </p:cNvPr>
          <p:cNvSpPr/>
          <p:nvPr/>
        </p:nvSpPr>
        <p:spPr>
          <a:xfrm>
            <a:off x="404849" y="1398225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6B900"/>
                </a:solidFill>
              </a:rPr>
              <a:t>Powered by AMD</a:t>
            </a:r>
            <a:endParaRPr lang="en-US" sz="28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C4F50AA-4530-0A42-CBFE-835305AB2EF4}"/>
              </a:ext>
            </a:extLst>
          </p:cNvPr>
          <p:cNvSpPr/>
          <p:nvPr/>
        </p:nvSpPr>
        <p:spPr>
          <a:xfrm>
            <a:off x="404849" y="2241759"/>
            <a:ext cx="59401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</a:rPr>
              <a:t>Energy Guardian leverages the full AMD AI PC architecture — CPU for orchestration and rule logic, Radeon GPU (DirectML) for 3D WebGL rendering and dashboard animations, and Ryzen AI NPU (VitisAI/ONNX) for on-device demand forecasting and anomaly detection. No energy data ever leaves the campus network.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7F50B9C6-D9F1-065A-B39D-0596F88BBB6E}"/>
              </a:ext>
            </a:extLst>
          </p:cNvPr>
          <p:cNvSpPr/>
          <p:nvPr/>
        </p:nvSpPr>
        <p:spPr>
          <a:xfrm>
            <a:off x="457200" y="3314699"/>
            <a:ext cx="2560320" cy="1596044"/>
          </a:xfrm>
          <a:prstGeom prst="rect">
            <a:avLst/>
          </a:prstGeom>
          <a:solidFill>
            <a:srgbClr val="111827"/>
          </a:solidFill>
          <a:ln w="19050">
            <a:solidFill>
              <a:srgbClr val="76B90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CDDCA121-DED2-0415-27A7-A9C5C850BCFE}"/>
              </a:ext>
            </a:extLst>
          </p:cNvPr>
          <p:cNvSpPr/>
          <p:nvPr/>
        </p:nvSpPr>
        <p:spPr>
          <a:xfrm>
            <a:off x="457200" y="3355847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6B900"/>
                </a:solidFill>
              </a:rPr>
              <a:t>AMD Hardware</a:t>
            </a: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1BFDE42-D68A-8C1F-DAAD-3339299054D7}"/>
              </a:ext>
            </a:extLst>
          </p:cNvPr>
          <p:cNvSpPr/>
          <p:nvPr/>
        </p:nvSpPr>
        <p:spPr>
          <a:xfrm>
            <a:off x="457200" y="3913216"/>
            <a:ext cx="2560320" cy="9975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AMD Ryzen AI PC (CPU + GPU + NPU)</a:t>
            </a:r>
            <a:endParaRPr lang="en-US" sz="13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C833B869-D026-5096-9613-805C5A478FF3}"/>
              </a:ext>
            </a:extLst>
          </p:cNvPr>
          <p:cNvSpPr/>
          <p:nvPr/>
        </p:nvSpPr>
        <p:spPr>
          <a:xfrm>
            <a:off x="3291840" y="3314699"/>
            <a:ext cx="2560320" cy="1596044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DE646DFD-B1DA-43A8-0725-EFFDD3230623}"/>
              </a:ext>
            </a:extLst>
          </p:cNvPr>
          <p:cNvSpPr/>
          <p:nvPr/>
        </p:nvSpPr>
        <p:spPr>
          <a:xfrm>
            <a:off x="3291840" y="3355847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AMD Software</a:t>
            </a:r>
            <a:endParaRPr lang="en-US" sz="15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5B65404-8AE3-1412-85A0-6BE85F469488}"/>
              </a:ext>
            </a:extLst>
          </p:cNvPr>
          <p:cNvSpPr/>
          <p:nvPr/>
        </p:nvSpPr>
        <p:spPr>
          <a:xfrm>
            <a:off x="3291840" y="3913216"/>
            <a:ext cx="2560320" cy="9975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ONNX Runtime (VitisAI + DirectML) · ROCm · Anthropic Claude API</a:t>
            </a:r>
            <a:endParaRPr lang="en-US" sz="13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6DA722B8-BCB4-3AB7-89A5-DC3AC0A57764}"/>
              </a:ext>
            </a:extLst>
          </p:cNvPr>
          <p:cNvSpPr/>
          <p:nvPr/>
        </p:nvSpPr>
        <p:spPr>
          <a:xfrm>
            <a:off x="6126480" y="3314699"/>
            <a:ext cx="2560320" cy="1596044"/>
          </a:xfrm>
          <a:prstGeom prst="rect">
            <a:avLst/>
          </a:prstGeom>
          <a:solidFill>
            <a:srgbClr val="111827"/>
          </a:solidFill>
          <a:ln w="1905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43F07CDA-3835-33A4-DCEA-EF5516B39851}"/>
              </a:ext>
            </a:extLst>
          </p:cNvPr>
          <p:cNvSpPr/>
          <p:nvPr/>
        </p:nvSpPr>
        <p:spPr>
          <a:xfrm>
            <a:off x="6126480" y="3355847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</a:rPr>
              <a:t>Performance</a:t>
            </a:r>
            <a:endParaRPr lang="en-US" sz="15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BD123304-A6DC-9681-0A93-EFA71C86C29B}"/>
              </a:ext>
            </a:extLst>
          </p:cNvPr>
          <p:cNvSpPr/>
          <p:nvPr/>
        </p:nvSpPr>
        <p:spPr>
          <a:xfrm>
            <a:off x="6126480" y="3913216"/>
            <a:ext cx="2560320" cy="9975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</a:rPr>
              <a:t>100% on-device · ₹46,540/yr savings · Zero cloud latency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7694721-977C-C422-EC58-12A7F54E42F5}"/>
              </a:ext>
            </a:extLst>
          </p:cNvPr>
          <p:cNvSpPr/>
          <p:nvPr/>
        </p:nvSpPr>
        <p:spPr>
          <a:xfrm>
            <a:off x="457200" y="61721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chemeClr val="tx1"/>
                </a:solidFill>
              </a:rPr>
              <a:t>IMPLEMENTATION COST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E2EA678C-06B4-0916-17E6-38294BB9AD1D}"/>
              </a:ext>
            </a:extLst>
          </p:cNvPr>
          <p:cNvSpPr/>
          <p:nvPr/>
        </p:nvSpPr>
        <p:spPr>
          <a:xfrm>
            <a:off x="457200" y="1147571"/>
            <a:ext cx="18288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381FD224-8FF2-C2CC-EEB7-4CFD52AF47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5000"/>
          </a:blip>
          <a:stretch>
            <a:fillRect/>
          </a:stretch>
        </p:blipFill>
        <p:spPr>
          <a:xfrm>
            <a:off x="6556248" y="1649685"/>
            <a:ext cx="2286000" cy="2286000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4A1490FC-D8A0-A06A-60DD-78AA30024EDB}"/>
              </a:ext>
            </a:extLst>
          </p:cNvPr>
          <p:cNvSpPr/>
          <p:nvPr/>
        </p:nvSpPr>
        <p:spPr>
          <a:xfrm>
            <a:off x="457200" y="1394459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67F4580-C06B-759D-760A-6FD643684439}"/>
              </a:ext>
            </a:extLst>
          </p:cNvPr>
          <p:cNvSpPr/>
          <p:nvPr/>
        </p:nvSpPr>
        <p:spPr>
          <a:xfrm>
            <a:off x="457200" y="1394459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90E7865-B304-1BE1-F623-92438069950D}"/>
              </a:ext>
            </a:extLst>
          </p:cNvPr>
          <p:cNvSpPr/>
          <p:nvPr/>
        </p:nvSpPr>
        <p:spPr>
          <a:xfrm>
            <a:off x="685800" y="1394459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</a:rPr>
              <a:t>Cloud Infrastructure</a:t>
            </a:r>
            <a:endParaRPr lang="en-US" sz="1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EF05C8B-2111-8B3C-A79B-AA01F218A14F}"/>
              </a:ext>
            </a:extLst>
          </p:cNvPr>
          <p:cNvSpPr/>
          <p:nvPr/>
        </p:nvSpPr>
        <p:spPr>
          <a:xfrm>
            <a:off x="4343400" y="1394459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D3EE"/>
                </a:solidFill>
              </a:rPr>
              <a:t>₹0 /</a:t>
            </a:r>
            <a:r>
              <a:rPr lang="en-US" sz="1800" b="1" dirty="0" err="1">
                <a:solidFill>
                  <a:srgbClr val="22D3EE"/>
                </a:solidFill>
              </a:rPr>
              <a:t>mo</a:t>
            </a:r>
            <a:endParaRPr lang="en-US" sz="18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DF36354-0831-E1F0-9695-18DD356220A2}"/>
              </a:ext>
            </a:extLst>
          </p:cNvPr>
          <p:cNvSpPr/>
          <p:nvPr/>
        </p:nvSpPr>
        <p:spPr>
          <a:xfrm>
            <a:off x="457200" y="2157177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161DA749-DC38-863E-696D-64A738A4596D}"/>
              </a:ext>
            </a:extLst>
          </p:cNvPr>
          <p:cNvSpPr/>
          <p:nvPr/>
        </p:nvSpPr>
        <p:spPr>
          <a:xfrm>
            <a:off x="457200" y="2157177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C197736-52A5-423E-D183-40BC36D99CA5}"/>
              </a:ext>
            </a:extLst>
          </p:cNvPr>
          <p:cNvSpPr/>
          <p:nvPr/>
        </p:nvSpPr>
        <p:spPr>
          <a:xfrm>
            <a:off x="685800" y="2157177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</a:rPr>
              <a:t>AI/ML API Costs</a:t>
            </a:r>
            <a:endParaRPr lang="en-US" sz="14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0547581-DE75-3B88-FC13-E7CAA92619F8}"/>
              </a:ext>
            </a:extLst>
          </p:cNvPr>
          <p:cNvSpPr/>
          <p:nvPr/>
        </p:nvSpPr>
        <p:spPr>
          <a:xfrm>
            <a:off x="4343400" y="2157177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97316"/>
                </a:solidFill>
              </a:rPr>
              <a:t>₹0 /mo</a:t>
            </a:r>
            <a:endParaRPr lang="en-US" sz="18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D2A04ABE-0C76-8AC6-421F-536275ABD566}"/>
              </a:ext>
            </a:extLst>
          </p:cNvPr>
          <p:cNvSpPr/>
          <p:nvPr/>
        </p:nvSpPr>
        <p:spPr>
          <a:xfrm>
            <a:off x="457200" y="2919895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C9A7374-33B7-25CB-406D-07CC89687E5E}"/>
              </a:ext>
            </a:extLst>
          </p:cNvPr>
          <p:cNvSpPr/>
          <p:nvPr/>
        </p:nvSpPr>
        <p:spPr>
          <a:xfrm>
            <a:off x="457200" y="2919895"/>
            <a:ext cx="73152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D77325B-AB3B-E449-33F7-56EF7D28B1B4}"/>
              </a:ext>
            </a:extLst>
          </p:cNvPr>
          <p:cNvSpPr/>
          <p:nvPr/>
        </p:nvSpPr>
        <p:spPr>
          <a:xfrm>
            <a:off x="685800" y="2919895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</a:rPr>
              <a:t>Hardware (Sensors)</a:t>
            </a:r>
            <a:endParaRPr lang="en-US" sz="14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0708FEE-FB42-7939-54DB-70480A5159F2}"/>
              </a:ext>
            </a:extLst>
          </p:cNvPr>
          <p:cNvSpPr/>
          <p:nvPr/>
        </p:nvSpPr>
        <p:spPr>
          <a:xfrm>
            <a:off x="2952605" y="2919895"/>
            <a:ext cx="33110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BBF24"/>
                </a:solidFill>
              </a:rPr>
              <a:t>₹1,00,000 - ₹2,50,000</a:t>
            </a:r>
            <a:endParaRPr lang="en-US" sz="18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41BAECC6-39D0-87B9-FB55-8BBF7167D2EF}"/>
              </a:ext>
            </a:extLst>
          </p:cNvPr>
          <p:cNvSpPr/>
          <p:nvPr/>
        </p:nvSpPr>
        <p:spPr>
          <a:xfrm>
            <a:off x="457200" y="3682613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53BD5BD9-A1EC-50A4-1FDB-BDD7CA8D0EF9}"/>
              </a:ext>
            </a:extLst>
          </p:cNvPr>
          <p:cNvSpPr/>
          <p:nvPr/>
        </p:nvSpPr>
        <p:spPr>
          <a:xfrm>
            <a:off x="457200" y="3682613"/>
            <a:ext cx="7315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AEF30F85-E376-FFDE-9F42-2AD1FCD3F293}"/>
              </a:ext>
            </a:extLst>
          </p:cNvPr>
          <p:cNvSpPr/>
          <p:nvPr/>
        </p:nvSpPr>
        <p:spPr>
          <a:xfrm>
            <a:off x="685800" y="3682613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E3A41CA5-5167-5035-F0CB-110ED7FB448D}"/>
              </a:ext>
            </a:extLst>
          </p:cNvPr>
          <p:cNvSpPr/>
          <p:nvPr/>
        </p:nvSpPr>
        <p:spPr>
          <a:xfrm>
            <a:off x="3692501" y="3682613"/>
            <a:ext cx="25711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2C55E"/>
                </a:solidFill>
              </a:rPr>
              <a:t>₹2,00,000 - ₹5,50,000</a:t>
            </a:r>
            <a:endParaRPr lang="en-US" sz="18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E4749339-0092-9AC5-7C58-7B5B445CA42C}"/>
              </a:ext>
            </a:extLst>
          </p:cNvPr>
          <p:cNvSpPr/>
          <p:nvPr/>
        </p:nvSpPr>
        <p:spPr>
          <a:xfrm>
            <a:off x="457200" y="4497210"/>
            <a:ext cx="5943600" cy="365760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9A6A91B-3CA7-F413-4EC3-4995F2217B6D}"/>
              </a:ext>
            </a:extLst>
          </p:cNvPr>
          <p:cNvSpPr/>
          <p:nvPr/>
        </p:nvSpPr>
        <p:spPr>
          <a:xfrm>
            <a:off x="685800" y="449721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Total Estimated Cost: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4CEA763F-AEC1-0C3B-67E7-23AB71BD7ED5}"/>
              </a:ext>
            </a:extLst>
          </p:cNvPr>
          <p:cNvSpPr/>
          <p:nvPr/>
        </p:nvSpPr>
        <p:spPr>
          <a:xfrm>
            <a:off x="3636660" y="4497210"/>
            <a:ext cx="2626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7316"/>
                </a:solidFill>
              </a:rPr>
              <a:t>₹3,00,000 - ₹8,00,000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2161E1CA-6713-E2DA-8B35-906FCDF5439F}"/>
              </a:ext>
            </a:extLst>
          </p:cNvPr>
          <p:cNvSpPr/>
          <p:nvPr/>
        </p:nvSpPr>
        <p:spPr>
          <a:xfrm>
            <a:off x="457200" y="68269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spc="300" dirty="0">
                <a:solidFill>
                  <a:schemeClr val="tx1"/>
                </a:solidFill>
              </a:rPr>
              <a:t>PROTOTYPE ASSETS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EE80F099-0DB4-C69D-3740-33B6993503CE}"/>
              </a:ext>
            </a:extLst>
          </p:cNvPr>
          <p:cNvSpPr/>
          <p:nvPr/>
        </p:nvSpPr>
        <p:spPr>
          <a:xfrm>
            <a:off x="457200" y="1213046"/>
            <a:ext cx="12801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22A6D3A-F0FB-CD09-D632-AFCED58380F1}"/>
              </a:ext>
            </a:extLst>
          </p:cNvPr>
          <p:cNvSpPr/>
          <p:nvPr/>
        </p:nvSpPr>
        <p:spPr>
          <a:xfrm>
            <a:off x="457201" y="1499322"/>
            <a:ext cx="3840480" cy="1662545"/>
          </a:xfrm>
          <a:prstGeom prst="rect">
            <a:avLst/>
          </a:prstGeom>
          <a:solidFill>
            <a:srgbClr val="111827"/>
          </a:solidFill>
          <a:ln w="19050">
            <a:solidFill>
              <a:srgbClr val="F9FAF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B108FD6-201A-4ADB-68F8-79250F24B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49" y="1682202"/>
            <a:ext cx="748145" cy="748145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36BF23D7-0D17-7997-041E-E0FF6C1F8581}"/>
              </a:ext>
            </a:extLst>
          </p:cNvPr>
          <p:cNvSpPr/>
          <p:nvPr/>
        </p:nvSpPr>
        <p:spPr>
          <a:xfrm>
            <a:off x="1737361" y="1617778"/>
            <a:ext cx="2377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</a:rPr>
              <a:t>GitHub Repository</a:t>
            </a:r>
            <a:endParaRPr lang="en-US" sz="16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1B3F663-4BA6-C734-7E85-447E5B2513BF}"/>
              </a:ext>
            </a:extLst>
          </p:cNvPr>
          <p:cNvSpPr/>
          <p:nvPr/>
        </p:nvSpPr>
        <p:spPr>
          <a:xfrm>
            <a:off x="1737361" y="2074978"/>
            <a:ext cx="2377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hlinkClick r:id="rId6" tooltip="github.com/I-Parth-Aggarwal-I/AI_Campus_Energy_Guardian"/>
              </a:rPr>
              <a:t>github.com/I-Parth-Aggarwal-I/</a:t>
            </a:r>
            <a:r>
              <a:rPr lang="en-US" sz="1200" i="1" dirty="0" err="1">
                <a:solidFill>
                  <a:srgbClr val="9CA3AF"/>
                </a:solidFill>
                <a:hlinkClick r:id="rId6" tooltip="github.com/I-Parth-Aggarwal-I/AI_Campus_Energy_Guardian"/>
              </a:rPr>
              <a:t>AI_Campus_Energy_Guardian</a:t>
            </a:r>
            <a:endParaRPr lang="en-US" sz="12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B3C7EF0-A370-F9D1-014E-C6C5B50102CD}"/>
              </a:ext>
            </a:extLst>
          </p:cNvPr>
          <p:cNvSpPr/>
          <p:nvPr/>
        </p:nvSpPr>
        <p:spPr>
          <a:xfrm>
            <a:off x="640081" y="2623618"/>
            <a:ext cx="34747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Public · Open Source · All assets included</a:t>
            </a:r>
            <a:endParaRPr lang="en-US" sz="11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EC764555-6053-6175-8508-0911E76F1859}"/>
              </a:ext>
            </a:extLst>
          </p:cNvPr>
          <p:cNvSpPr/>
          <p:nvPr/>
        </p:nvSpPr>
        <p:spPr>
          <a:xfrm>
            <a:off x="4846321" y="1499322"/>
            <a:ext cx="3840480" cy="1662545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B2170640-46DC-6810-8181-5610DEE0BA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3769" y="1682202"/>
            <a:ext cx="748145" cy="748145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4FB26B0-6623-5B75-561C-F782EBD3B998}"/>
              </a:ext>
            </a:extLst>
          </p:cNvPr>
          <p:cNvSpPr/>
          <p:nvPr/>
        </p:nvSpPr>
        <p:spPr>
          <a:xfrm>
            <a:off x="5989322" y="1617778"/>
            <a:ext cx="2638148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</a:rPr>
              <a:t>Demo Video 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3467E3E-4AB7-E79B-2EE5-C037AFDB29ED}"/>
              </a:ext>
            </a:extLst>
          </p:cNvPr>
          <p:cNvSpPr/>
          <p:nvPr/>
        </p:nvSpPr>
        <p:spPr>
          <a:xfrm>
            <a:off x="6126481" y="2074978"/>
            <a:ext cx="2377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9CA3AF"/>
                </a:solidFill>
                <a:hlinkClick r:id="rId8"/>
              </a:rPr>
              <a:t>youtu.be/-DBfs5aHK_8</a:t>
            </a:r>
            <a:endParaRPr lang="en-US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02E1F00-AC49-9039-CDAF-ED2AC6DF8D20}"/>
              </a:ext>
            </a:extLst>
          </p:cNvPr>
          <p:cNvSpPr/>
          <p:nvPr/>
        </p:nvSpPr>
        <p:spPr>
          <a:xfrm>
            <a:off x="5029201" y="2623618"/>
            <a:ext cx="34747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3 min walkthrough · All features shown</a:t>
            </a:r>
            <a:endParaRPr lang="en-US" sz="1100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A68AD95-4D74-AA6E-F0DD-DAD34E811421}"/>
              </a:ext>
            </a:extLst>
          </p:cNvPr>
          <p:cNvSpPr/>
          <p:nvPr/>
        </p:nvSpPr>
        <p:spPr>
          <a:xfrm>
            <a:off x="2651760" y="3310984"/>
            <a:ext cx="3840480" cy="1662545"/>
          </a:xfrm>
          <a:prstGeom prst="rect">
            <a:avLst/>
          </a:prstGeom>
          <a:solidFill>
            <a:srgbClr val="111827"/>
          </a:solidFill>
          <a:ln w="19050">
            <a:solidFill>
              <a:srgbClr val="F9FAF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78C7DC-1C14-CF66-9CD7-67AFCE137E45}"/>
              </a:ext>
            </a:extLst>
          </p:cNvPr>
          <p:cNvSpPr/>
          <p:nvPr/>
        </p:nvSpPr>
        <p:spPr>
          <a:xfrm>
            <a:off x="3931920" y="3429440"/>
            <a:ext cx="2377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</a:rPr>
              <a:t>Prototype</a:t>
            </a:r>
            <a:endParaRPr lang="en-US" sz="16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2D3BE8A-5A27-BFA2-354E-BD8616D99886}"/>
              </a:ext>
            </a:extLst>
          </p:cNvPr>
          <p:cNvSpPr/>
          <p:nvPr/>
        </p:nvSpPr>
        <p:spPr>
          <a:xfrm>
            <a:off x="3931920" y="3886640"/>
            <a:ext cx="237744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hlinkClick r:id="rId9"/>
              </a:rPr>
              <a:t>https://i-parth-aggarwal-i.github.io/AI_Campus_Energy_Guardian/</a:t>
            </a:r>
            <a:endParaRPr lang="en-US" sz="12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BE0CD0DB-80DF-191F-A75F-B134D3FEF939}"/>
              </a:ext>
            </a:extLst>
          </p:cNvPr>
          <p:cNvSpPr/>
          <p:nvPr/>
        </p:nvSpPr>
        <p:spPr>
          <a:xfrm>
            <a:off x="2834640" y="4435280"/>
            <a:ext cx="3474720" cy="374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Overview · 3D Campus · AI Chatbot </a:t>
            </a:r>
            <a:endParaRPr lang="en-US" sz="1100" dirty="0"/>
          </a:p>
        </p:txBody>
      </p:sp>
      <p:pic>
        <p:nvPicPr>
          <p:cNvPr id="25" name="Graphic 24" descr="Atom">
            <a:extLst>
              <a:ext uri="{FF2B5EF4-FFF2-40B4-BE49-F238E27FC236}">
                <a16:creationId xmlns:a16="http://schemas.microsoft.com/office/drawing/2014/main" id="{417E5FFC-91F9-9CF5-DA0E-B0F0343AD2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34640" y="347973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CE6377-F67B-4A0B-A596-46180C700C50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749</Words>
  <Application>Microsoft Office PowerPoint</Application>
  <PresentationFormat>On-screen Show (16:9)</PresentationFormat>
  <Paragraphs>162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Arial</vt:lpstr>
      <vt:lpstr>Arial Black</vt:lpstr>
      <vt:lpstr>Poppins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 Aggarwal</cp:lastModifiedBy>
  <cp:revision>34</cp:revision>
  <dcterms:modified xsi:type="dcterms:W3CDTF">2026-03-01T12:57:18Z</dcterms:modified>
</cp:coreProperties>
</file>